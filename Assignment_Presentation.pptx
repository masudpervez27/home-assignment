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8"/>
  </p:notesMasterIdLst>
  <p:sldIdLst>
    <p:sldId id="346" r:id="rId3"/>
    <p:sldId id="345" r:id="rId4"/>
    <p:sldId id="347" r:id="rId5"/>
    <p:sldId id="349" r:id="rId6"/>
    <p:sldId id="257" r:id="rId7"/>
    <p:sldId id="350" r:id="rId8"/>
    <p:sldId id="351" r:id="rId9"/>
    <p:sldId id="358" r:id="rId10"/>
    <p:sldId id="352" r:id="rId11"/>
    <p:sldId id="318" r:id="rId12"/>
    <p:sldId id="353" r:id="rId13"/>
    <p:sldId id="259" r:id="rId14"/>
    <p:sldId id="356" r:id="rId15"/>
    <p:sldId id="354" r:id="rId16"/>
    <p:sldId id="357" r:id="rId1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290F05-16CF-428B-931A-B44AF22F3F5D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539007-1D4C-4C67-81FD-ED95487383F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34096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D69D4-9B41-45E6-A596-50F101302E44}" type="slidenum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sv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86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engineering is the process of transforming raw data into meaningful variables (features) that help machine learning models learn more effectively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39007-1D4C-4C67-81FD-ED95487383FE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29996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Machine learning can be categorized into several types based on different criteria. Some common types of machine learning: </a:t>
            </a:r>
            <a:r>
              <a:rPr lang="sv-SE" b="0" i="0" dirty="0" err="1">
                <a:solidFill>
                  <a:srgbClr val="374151"/>
                </a:solidFill>
                <a:effectLst/>
                <a:latin typeface="Söhne"/>
              </a:rPr>
              <a:t>Supervised</a:t>
            </a:r>
            <a:r>
              <a:rPr lang="sv-SE" b="0" i="0" dirty="0">
                <a:solidFill>
                  <a:srgbClr val="374151"/>
                </a:solidFill>
                <a:effectLst/>
                <a:latin typeface="Söhne"/>
              </a:rPr>
              <a:t> Learning, </a:t>
            </a:r>
            <a:r>
              <a:rPr lang="sv-SE" b="0" i="0" dirty="0" err="1">
                <a:solidFill>
                  <a:srgbClr val="374151"/>
                </a:solidFill>
                <a:effectLst/>
                <a:latin typeface="Söhne"/>
              </a:rPr>
              <a:t>Unsupervised</a:t>
            </a:r>
            <a:r>
              <a:rPr lang="sv-SE" b="0" i="0" dirty="0">
                <a:solidFill>
                  <a:srgbClr val="374151"/>
                </a:solidFill>
                <a:effectLst/>
                <a:latin typeface="Söhne"/>
              </a:rPr>
              <a:t> Learning, Semi-</a:t>
            </a:r>
            <a:r>
              <a:rPr lang="sv-SE" b="0" i="0" dirty="0" err="1">
                <a:solidFill>
                  <a:srgbClr val="374151"/>
                </a:solidFill>
                <a:effectLst/>
                <a:latin typeface="Söhne"/>
              </a:rPr>
              <a:t>Supervised</a:t>
            </a:r>
            <a:r>
              <a:rPr lang="sv-SE" b="0" i="0" dirty="0">
                <a:solidFill>
                  <a:srgbClr val="374151"/>
                </a:solidFill>
                <a:effectLst/>
                <a:latin typeface="Söhne"/>
              </a:rPr>
              <a:t> Learning, </a:t>
            </a:r>
            <a:r>
              <a:rPr lang="sv-SE" b="0" i="0" dirty="0" err="1">
                <a:solidFill>
                  <a:srgbClr val="374151"/>
                </a:solidFill>
                <a:effectLst/>
                <a:latin typeface="Söhne"/>
              </a:rPr>
              <a:t>Reinforcement</a:t>
            </a:r>
            <a:r>
              <a:rPr lang="sv-SE" b="0" i="0" dirty="0">
                <a:solidFill>
                  <a:srgbClr val="374151"/>
                </a:solidFill>
                <a:effectLst/>
                <a:latin typeface="Söhne"/>
              </a:rPr>
              <a:t> Learning, etc. 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E988E-4660-9E4F-8D84-03B8023477CD}" type="slidenum">
              <a:rPr lang="sv-SE" smtClean="0"/>
              <a:pPr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56128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3191-F001-307C-CFE1-95D3C06C4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5502F-C83B-1AC5-960D-B12E339E4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22DBD-F12A-476A-9347-EBE22AB4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5CB5-41D2-4442-800C-A82C5F7D21BF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6A615-B2EE-E5EE-4E80-3A7BAC8F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E45A7-0FD1-8A5B-6B27-5ABD1503E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DB-6E3E-40BB-BF2F-9C12FB54980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00011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58C1D-8DA2-2B3A-A0C3-67725288C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263F-732C-CBDC-6068-5199FA17F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F8B03-FDCC-8D85-CDE5-44B0C5FE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5CB5-41D2-4442-800C-A82C5F7D21BF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AABD2-C5FE-2AF4-B8BF-B19857CAE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A9852-50DC-875E-A96A-9A4349E56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DB-6E3E-40BB-BF2F-9C12FB54980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66000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C330C-C009-71E6-6C27-71D51169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34994-61AF-FC10-C79A-FE20CCEFF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6BEC0-6B7A-D6BF-7A5E-2C02C4AE6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5CB5-41D2-4442-800C-A82C5F7D21BF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BE150-D9A9-7E17-EA3E-D5718F41B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75A6E-73A7-96B8-6CE8-612DE0836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DB-6E3E-40BB-BF2F-9C12FB54980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4750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F37F-2A4D-6EE3-57C2-D54C2E401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D2669-66FB-1DA6-3240-02C568D277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F8891-E5D8-0782-95B1-7F3FFF945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56E5E-B4F8-6FC8-3C4D-575B9C82A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5CB5-41D2-4442-800C-A82C5F7D21BF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D79F7-A8AE-C979-0886-DF48E0BB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8A235-2EEB-2BA4-A282-643D1043A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DB-6E3E-40BB-BF2F-9C12FB54980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86474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5064A-FAAE-2140-8AFE-0A2A5191D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20034-A6F1-3E94-74B6-02C9D2101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4EF7C-4C34-CB5B-E6C2-4773A6F21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FDF1C2-8EA5-489F-4C86-797403D8C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2A580-F78E-E65E-6A1E-16D8ADE8C6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7280C7-4443-FEA6-22F2-15CDEAAAB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5CB5-41D2-4442-800C-A82C5F7D21BF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A974AC-0B0D-5700-B27D-D7AE5C23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B75C61-B035-AC5C-9422-85BB05D28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DB-6E3E-40BB-BF2F-9C12FB54980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37521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354E6-CEAB-7A45-34F0-C87FA4667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BC152-BBF4-7580-07B4-0E9B5FCD5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5CB5-41D2-4442-800C-A82C5F7D21BF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D9562-BE6F-DFA9-B714-8FDD9B1E2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55639-0267-A4AD-042F-F84A41B6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DB-6E3E-40BB-BF2F-9C12FB54980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18176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FEC02-5EBC-3F72-195D-C87AE1BC8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5CB5-41D2-4442-800C-A82C5F7D21BF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0CEFA2-8802-A3B1-67AC-F8FC93039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0BC8C-ACA5-27D7-5BB6-69DE7FC0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DB-6E3E-40BB-BF2F-9C12FB54980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05317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B1D83-5745-3ECE-DED8-CF91ED510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FF350-FAF2-BF24-B3C4-DA62E2974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ADEE8-F4C9-32D9-08F7-3DDF97A2B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6CF65-44CA-8899-3FE2-2715F19C8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5CB5-41D2-4442-800C-A82C5F7D21BF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BA0F8-32CF-61EC-0598-32878BD6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162B3-8844-A5AD-D4EB-455E4DA99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DB-6E3E-40BB-BF2F-9C12FB54980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18587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8DE79-6D91-E70C-9F3E-ACFD92B9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0410B-79BF-9173-9807-736EA0D5B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27A85-A815-C7B5-9680-38BBE21E2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CD7A4-FB18-DE17-3261-413B1F576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5CB5-41D2-4442-800C-A82C5F7D21BF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3FF03-1E73-CF2E-4976-C5E240C2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E8D86-F1D7-1C22-B6BD-B111944B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DB-6E3E-40BB-BF2F-9C12FB54980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57122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AF79C-6B68-1F35-D11C-CEE39BD3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541F4-C2CF-E62D-6332-FBEE359C3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358E6-A2AD-EB6A-D137-E2C51B45D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5CB5-41D2-4442-800C-A82C5F7D21BF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B11AA-9421-3A36-7140-422CB378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46C07-115E-EECA-C524-7821C3C4C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DB-6E3E-40BB-BF2F-9C12FB54980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18442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2FEB91-8DFE-3C12-02A1-AA25B11C6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5FBBF-59AB-4A95-611D-C6816B1AB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22AA5-A292-89ED-E39F-354CBC70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5CB5-41D2-4442-800C-A82C5F7D21BF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A3686-B0F7-CBF7-2773-DE0499B8C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40498-4436-9A46-D601-F2F16C00E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9A0DB-6E3E-40BB-BF2F-9C12FB54980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91822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C5C22-E2B9-46A1-A9DC-DBC9AECDC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26A654-1E5B-44CC-8D9A-67F7EC9EC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A0C59-7026-4642-8F89-8FA94991A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6DDE-365B-4FF2-8DF4-82F844349C4D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5BF54-F58A-4611-B2B8-3B8EBE656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2792F-073F-478E-8803-3F576C21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3F48-3F94-4877-AF3A-CD72E7D47E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61417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E1E48-BA17-42DE-98DB-050AA1AF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79607-2B90-4B18-8FEB-3BCBEE6B9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2B38C-C291-4A2A-AA79-40436DF3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6DDE-365B-4FF2-8DF4-82F844349C4D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CB2CB-48D5-4343-8B26-3CEFD407D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9126C-0A0A-4786-8DB6-DBA6A0D39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3F48-3F94-4877-AF3A-CD72E7D47E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94229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B13F0-239B-41C1-B04F-BA7CE383D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DDF96-60DD-4CFB-90D8-ADFFECF12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8EA73-75C5-4E7B-947F-4836DD03E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6DDE-365B-4FF2-8DF4-82F844349C4D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61BB7-996E-432F-A23E-15FAFFDAA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61C82-AA56-4BDF-8EA5-6E5856605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3F48-3F94-4877-AF3A-CD72E7D47E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09094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6E534-E5FE-4CA3-83D4-BACC1565C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F99F-6DC6-4A7C-B4EE-ADC9677A9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B8965-506F-43E3-A94C-7EE140C2C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A903B-1054-44DF-984B-9FA964CC1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6DDE-365B-4FF2-8DF4-82F844349C4D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83E9E-71C9-4C35-AC54-E3D0B79E1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59BC6-B13A-454A-93AC-CB15B7B2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3F48-3F94-4877-AF3A-CD72E7D47E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73633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6C214-BC9C-4180-8EB5-E39F5A321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B021F-268A-4949-8E71-5960B9FCC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BCE57-DEA9-4402-A4B3-6388B3D90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01BEE-4DDD-41EE-87BA-0F5098E1A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E7ED89-B0E4-4A2E-9EB0-5F74ABDEB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4BD6B7-D894-44F4-9344-2438191C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6DDE-365B-4FF2-8DF4-82F844349C4D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E3321A-4E13-45B2-A2B7-071CDAF42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D3700D-AC7F-42EB-AE98-D62765108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3F48-3F94-4877-AF3A-CD72E7D47E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64542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F4B6-5301-44C3-86C0-6E7146EA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94234D-5AAF-4398-BADD-5B7FDF0AD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6DDE-365B-4FF2-8DF4-82F844349C4D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9518CC-992F-483D-80E8-7B823F1E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11497-93F1-4714-ADA4-B0C6FB72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3F48-3F94-4877-AF3A-CD72E7D47E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22974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6D25FF-7959-4423-8523-9A6A4ACD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6DDE-365B-4FF2-8DF4-82F844349C4D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5A66C3-234F-4AD9-839F-992371BB1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8B209-8302-45EB-9C53-A5EB62236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3F48-3F94-4877-AF3A-CD72E7D47E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10402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5966-4BAE-46A9-A30F-70252CB88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0A570-29CA-4051-A614-208E537A0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B760C-058B-4A6A-AB3C-A1B0D204E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B968D-152A-4817-AAFD-A2E4083E3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6DDE-365B-4FF2-8DF4-82F844349C4D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720ED-DA88-4D24-8679-952B5DE6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BA37A-ED67-4735-B332-252A58E3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3F48-3F94-4877-AF3A-CD72E7D47E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343018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BD94-7BAD-47E3-85C2-D35D74005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81F076-3A1D-4D2D-ABFF-A2F86F14F8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174C2-F093-4A06-BFFF-206931891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36682-D3B1-4B06-A799-F67D55300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6DDE-365B-4FF2-8DF4-82F844349C4D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B78C3-4BC5-429C-8A76-B5E171EA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29899-06D7-48EC-938B-55ADAB0B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3F48-3F94-4877-AF3A-CD72E7D47E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279723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F7902-20D4-4F96-8263-707A60B14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C7F753-21BE-45B4-A870-5AFE397F6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2D8E6-F6D8-4527-B471-DC8E328E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6DDE-365B-4FF2-8DF4-82F844349C4D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65789-C956-4D86-8200-85C028DC2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0914C-F33B-413F-92C6-FDC40E708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3F48-3F94-4877-AF3A-CD72E7D47E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882725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D2F39-BD05-431F-86B7-03A91D003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8F4F25-0A9D-446C-94D3-D959C2A54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929BD-653F-4D8B-8CFA-B6AE62FCE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6DDE-365B-4FF2-8DF4-82F844349C4D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8D95F-8CFC-457B-A755-72404F00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35737-3BF6-4F6C-8178-90C1CC7F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53F48-3F94-4877-AF3A-CD72E7D47E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327898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Imag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E240909-8DFC-4A32-88E6-B885ED11347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err="1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04D1D06B-B1A5-4FC2-88F7-DA0BEEC130C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0" y="0"/>
            <a:ext cx="12190413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5AFF2-DD5C-4926-A72C-82CD066B1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2155507"/>
            <a:ext cx="5545138" cy="1800001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GB" sz="5500">
                <a:solidFill>
                  <a:schemeClr val="bg1"/>
                </a:solidFill>
              </a:defRPr>
            </a:lvl1pPr>
          </a:lstStyle>
          <a:p>
            <a:pPr lvl="0">
              <a:lnSpc>
                <a:spcPts val="5800"/>
              </a:lnSpc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59BCB3-964B-4243-ABAF-0547CCA1D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2" y="4081237"/>
            <a:ext cx="5545138" cy="385445"/>
          </a:xfrm>
        </p:spPr>
        <p:txBody>
          <a:bodyPr vert="horz" lIns="0" tIns="0" rIns="0" bIns="0" rtlCol="0" anchor="t" anchorCtr="0"/>
          <a:lstStyle>
            <a:lvl1pPr marL="0" indent="0">
              <a:buNone/>
              <a:defRPr lang="en-GB" sz="2000">
                <a:solidFill>
                  <a:schemeClr val="bg1"/>
                </a:solidFill>
                <a:latin typeface="SEB SansSerif Light" pitchFamily="2" charset="77"/>
              </a:defRPr>
            </a:lvl1pPr>
          </a:lstStyle>
          <a:p>
            <a:pPr marL="0"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Text Placeholder 31">
            <a:extLst>
              <a:ext uri="{FF2B5EF4-FFF2-40B4-BE49-F238E27FC236}">
                <a16:creationId xmlns:a16="http://schemas.microsoft.com/office/drawing/2014/main" id="{4C17403D-29D8-43B5-AD82-DCB534DC4D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338560" y="-1"/>
            <a:ext cx="851853" cy="850234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067ED0F-58AB-4E2F-BCE2-FC85F81A9529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612259-245B-4F54-B859-04E8F2EEC5C5}" type="datetime1">
              <a:rPr lang="en-GB" smtClean="0"/>
              <a:t>11/11/2025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9B9CBA3-B5EF-4562-894D-09DBA36C3C08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vert="horz" lIns="0" tIns="0" rIns="0" bIns="0" rtlCol="0" anchor="t"/>
          <a:lstStyle>
            <a:lvl1pPr>
              <a:defRPr lang="en-GB" smtClean="0">
                <a:solidFill>
                  <a:schemeClr val="bg1"/>
                </a:solidFill>
              </a:defRPr>
            </a:lvl1pPr>
          </a:lstStyle>
          <a:p>
            <a:pPr algn="ctr"/>
            <a:r>
              <a:rPr lang="sv-SE"/>
              <a:t>Lorem ipsum dolor sit amet, consectetur adipiscing elit, sed do eiusmod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B76E42E-8EEB-4521-B6BF-18C0F332DD7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3F2C8F-2988-2547-AA69-A6325C8C35E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1296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4DC5D5C-00A4-4451-A797-4DB2E54091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1834000"/>
            <a:ext cx="11090275" cy="4181235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GB" sz="1800" dirty="0"/>
            </a:lvl1pPr>
            <a:lvl2pPr>
              <a:spcBef>
                <a:spcPts val="1200"/>
              </a:spcBef>
              <a:defRPr lang="en-GB" sz="1800" dirty="0"/>
            </a:lvl2pPr>
            <a:lvl3pPr>
              <a:spcBef>
                <a:spcPts val="1200"/>
              </a:spcBef>
              <a:defRPr lang="en-GB" sz="1800" dirty="0"/>
            </a:lvl3pPr>
            <a:lvl4pPr>
              <a:spcBef>
                <a:spcPts val="1200"/>
              </a:spcBef>
              <a:defRPr lang="en-GB" sz="1800" dirty="0"/>
            </a:lvl4pPr>
            <a:lvl5pPr>
              <a:spcBef>
                <a:spcPts val="1200"/>
              </a:spcBef>
              <a:defRPr lang="en-GB" sz="18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EE58730-48C2-4EFE-B937-9FE398953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63221"/>
            <a:ext cx="11090275" cy="10516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A795D80-E3A3-48E3-B888-0D6B8179C66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C7359AB-4333-4236-B188-EBBD1D072709}" type="datetime1">
              <a:rPr lang="en-GB" smtClean="0"/>
              <a:t>11/11/2025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2F049C9-9F41-4297-8139-534EAD8620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vert="horz" lIns="0" tIns="0" rIns="0" bIns="0" rtlCol="0" anchor="t"/>
          <a:lstStyle>
            <a:lvl1pPr>
              <a:defRPr lang="en-GB" smtClean="0"/>
            </a:lvl1pPr>
          </a:lstStyle>
          <a:p>
            <a:pPr algn="ctr"/>
            <a:r>
              <a:rPr lang="sv-SE" err="1"/>
              <a:t>Lorem</a:t>
            </a:r>
            <a:r>
              <a:rPr lang="sv-SE"/>
              <a:t> </a:t>
            </a:r>
            <a:r>
              <a:rPr lang="sv-SE" err="1"/>
              <a:t>ipsum</a:t>
            </a:r>
            <a:r>
              <a:rPr lang="sv-SE"/>
              <a:t> </a:t>
            </a:r>
            <a:r>
              <a:rPr lang="sv-SE" err="1"/>
              <a:t>dolor</a:t>
            </a:r>
            <a:r>
              <a:rPr lang="sv-SE"/>
              <a:t> </a:t>
            </a:r>
            <a:r>
              <a:rPr lang="sv-SE" err="1"/>
              <a:t>sit</a:t>
            </a:r>
            <a:r>
              <a:rPr lang="sv-SE"/>
              <a:t> </a:t>
            </a:r>
            <a:r>
              <a:rPr lang="sv-SE" err="1"/>
              <a:t>amet</a:t>
            </a:r>
            <a:r>
              <a:rPr lang="sv-SE"/>
              <a:t>, </a:t>
            </a:r>
            <a:r>
              <a:rPr lang="sv-SE" err="1"/>
              <a:t>consectetur</a:t>
            </a:r>
            <a:r>
              <a:rPr lang="sv-SE"/>
              <a:t> </a:t>
            </a:r>
            <a:r>
              <a:rPr lang="sv-SE" err="1"/>
              <a:t>adipiscing</a:t>
            </a:r>
            <a:r>
              <a:rPr lang="sv-SE"/>
              <a:t> elit, sed do </a:t>
            </a:r>
            <a:r>
              <a:rPr lang="sv-SE" err="1"/>
              <a:t>eiusmod</a:t>
            </a:r>
            <a:endParaRPr lang="sv-S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EFCAF42-1E35-4FC9-AC3A-025E0D0319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5682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87371-CB6A-7C35-4CEB-938C67C36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23E3A-3228-D9CC-AD8D-7197C73FB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E8DC6-266D-FECC-11F1-9EDAB5BEC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965CB5-41D2-4442-800C-A82C5F7D21BF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A0444-20D1-1CA3-BC0F-A4B7D4B49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A3051-D92B-D020-B281-A52A8BD1A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39A0DB-6E3E-40BB-BF2F-9C12FB54980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85918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F0A23-A685-413C-92FD-2671A136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9FD50-EB24-40FA-9786-D263C1D5A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1BD9-9C92-4B68-8B67-5FB979C83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76DDE-365B-4FF2-8DF4-82F844349C4D}" type="datetimeFigureOut">
              <a:rPr lang="sv-SE" smtClean="0"/>
              <a:t>2025-11-11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B342B-83AE-4521-81AD-EA63982E3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BB19B-F460-41E6-B5AA-1CD3ECC7E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53F48-3F94-4877-AF3A-CD72E7D47E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6617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2A2B68-E5CE-8D8B-3B1F-19FC25D89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dirty="0">
                <a:latin typeface="Aptos" panose="020B0004020202020204" pitchFamily="34" charset="0"/>
              </a:rPr>
              <a:t>Machine Learning Techniques for Anti-Money Laundering</a:t>
            </a:r>
            <a:endParaRPr lang="en-US" sz="7200" kern="12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2">
            <a:extLst>
              <a:ext uri="{FF2B5EF4-FFF2-40B4-BE49-F238E27FC236}">
                <a16:creationId xmlns:a16="http://schemas.microsoft.com/office/drawing/2014/main" id="{0D46DECE-E6DE-4AEA-B4A5-B5BCC4BF70A3}"/>
              </a:ext>
            </a:extLst>
          </p:cNvPr>
          <p:cNvSpPr txBox="1">
            <a:spLocks/>
          </p:cNvSpPr>
          <p:nvPr/>
        </p:nvSpPr>
        <p:spPr>
          <a:xfrm>
            <a:off x="2260599" y="5250339"/>
            <a:ext cx="7086600" cy="521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b="1" dirty="0" err="1">
                <a:solidFill>
                  <a:schemeClr val="accent1"/>
                </a:solidFill>
              </a:rPr>
              <a:t>Aedron</a:t>
            </a:r>
            <a:r>
              <a:rPr lang="sv-SE" b="1" dirty="0">
                <a:solidFill>
                  <a:schemeClr val="accent1"/>
                </a:solidFill>
              </a:rPr>
              <a:t> Bank - SAR </a:t>
            </a:r>
            <a:r>
              <a:rPr lang="sv-SE" b="1" dirty="0" err="1">
                <a:solidFill>
                  <a:schemeClr val="accent1"/>
                </a:solidFill>
              </a:rPr>
              <a:t>Prediction</a:t>
            </a:r>
            <a:endParaRPr lang="sv-S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B570A-087C-B093-994B-7FE9FFF594C2}"/>
              </a:ext>
            </a:extLst>
          </p:cNvPr>
          <p:cNvSpPr txBox="1"/>
          <p:nvPr/>
        </p:nvSpPr>
        <p:spPr>
          <a:xfrm>
            <a:off x="8949266" y="5983967"/>
            <a:ext cx="2646270" cy="290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sv-SE" b="0" dirty="0">
                <a:effectLst/>
                <a:latin typeface="+mj-lt"/>
              </a:rPr>
              <a:t>Date: November 9, 2025</a:t>
            </a:r>
          </a:p>
        </p:txBody>
      </p:sp>
    </p:spTree>
    <p:extLst>
      <p:ext uri="{BB962C8B-B14F-4D97-AF65-F5344CB8AC3E}">
        <p14:creationId xmlns:p14="http://schemas.microsoft.com/office/powerpoint/2010/main" val="1592467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1C5107-B3FA-8C96-A155-C89B7513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Aptos" panose="020B0004020202020204" pitchFamily="34" charset="0"/>
              </a:rPr>
              <a:t>Business Problem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679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25084-AB9D-8435-7A98-0FCE28357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Business Problem &amp; Objective</a:t>
            </a:r>
            <a:endParaRPr lang="sv-SE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9A70D-8565-8CC5-3753-CD1501A7D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69933" cy="398200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 err="1"/>
              <a:t>Aedron</a:t>
            </a:r>
            <a:r>
              <a:rPr lang="en-US" b="1" dirty="0"/>
              <a:t> Bank Profile</a:t>
            </a:r>
            <a:endParaRPr lang="en-US" dirty="0"/>
          </a:p>
          <a:p>
            <a:r>
              <a:rPr lang="en-US" dirty="0"/>
              <a:t>Nordic bank, 1 year old</a:t>
            </a:r>
          </a:p>
          <a:p>
            <a:r>
              <a:rPr lang="en-US" dirty="0"/>
              <a:t>1,000 customers</a:t>
            </a:r>
          </a:p>
          <a:p>
            <a:r>
              <a:rPr lang="en-US" dirty="0"/>
              <a:t>FSA requires enhanced AML monitoring</a:t>
            </a:r>
          </a:p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Problem</a:t>
            </a:r>
            <a:r>
              <a:rPr lang="en-US" dirty="0">
                <a:latin typeface="Aptos" panose="020B0004020202020204" pitchFamily="34" charset="0"/>
              </a:rPr>
              <a:t>: </a:t>
            </a:r>
            <a:endParaRPr lang="en-US" dirty="0"/>
          </a:p>
          <a:p>
            <a:r>
              <a:rPr lang="en-US" b="1" dirty="0"/>
              <a:t>Current Control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Rule: Investigate if turnover &gt; €9,000/month</a:t>
            </a:r>
          </a:p>
          <a:p>
            <a:pPr lvl="1"/>
            <a:r>
              <a:rPr lang="en-US" dirty="0"/>
              <a:t>Simple but ineffective</a:t>
            </a:r>
          </a:p>
          <a:p>
            <a:pPr lvl="1"/>
            <a:r>
              <a:rPr lang="en-US" dirty="0"/>
              <a:t>Single feature decision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Generate excessive false alerts – operation costly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Regulatory Pressure</a:t>
            </a:r>
            <a:endParaRPr lang="en-US" dirty="0"/>
          </a:p>
          <a:p>
            <a:pPr lvl="1"/>
            <a:r>
              <a:rPr lang="en-US" dirty="0"/>
              <a:t>Need to file accurate SARs</a:t>
            </a:r>
          </a:p>
          <a:p>
            <a:pPr lvl="1"/>
            <a:r>
              <a:rPr lang="en-US" dirty="0"/>
              <a:t>Demonstrate sophisticated controls</a:t>
            </a:r>
          </a:p>
          <a:p>
            <a:pPr lvl="1"/>
            <a:r>
              <a:rPr lang="en-US" dirty="0"/>
              <a:t>Balance detection with efficiency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DBD9C43-45AF-5511-45BC-4527BE93C0EC}"/>
              </a:ext>
            </a:extLst>
          </p:cNvPr>
          <p:cNvSpPr txBox="1">
            <a:spLocks/>
          </p:cNvSpPr>
          <p:nvPr/>
        </p:nvSpPr>
        <p:spPr>
          <a:xfrm>
            <a:off x="6256867" y="1842023"/>
            <a:ext cx="5469466" cy="3965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latin typeface="Aptos" panose="020B0004020202020204" pitchFamily="34" charset="0"/>
              </a:rPr>
              <a:t>Objective</a:t>
            </a:r>
            <a:r>
              <a:rPr lang="en-US" dirty="0">
                <a:latin typeface="Aptos" panose="020B0004020202020204" pitchFamily="34" charset="0"/>
              </a:rPr>
              <a:t>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Aptos" panose="020B0004020202020204" pitchFamily="34" charset="0"/>
              </a:rPr>
              <a:t>Build Machine Learning - Driven AML Detection approach</a:t>
            </a:r>
          </a:p>
          <a:p>
            <a:pPr lvl="1"/>
            <a:r>
              <a:rPr lang="en-US" b="1" dirty="0"/>
              <a:t>Find more suspicious customers (SARs) </a:t>
            </a:r>
            <a:r>
              <a:rPr lang="en-US" dirty="0"/>
              <a:t>- Increase detection rate</a:t>
            </a:r>
          </a:p>
          <a:p>
            <a:pPr lvl="1"/>
            <a:r>
              <a:rPr lang="en-US" b="1" dirty="0"/>
              <a:t>Reduce False Positives</a:t>
            </a:r>
            <a:r>
              <a:rPr lang="en-US" dirty="0"/>
              <a:t> - Minimize unnecessary investigations</a:t>
            </a:r>
          </a:p>
          <a:p>
            <a:pPr lvl="1"/>
            <a:r>
              <a:rPr lang="en-US" b="1" dirty="0">
                <a:latin typeface="Aptos" panose="020B0004020202020204" pitchFamily="34" charset="0"/>
              </a:rPr>
              <a:t>Create sustainable controls </a:t>
            </a:r>
            <a:r>
              <a:rPr lang="en-US" dirty="0">
                <a:latin typeface="Aptos" panose="020B0004020202020204" pitchFamily="34" charset="0"/>
              </a:rPr>
              <a:t>- Justifiable and robust over time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Explainable &amp; Transparency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75385-9682-32AC-49AB-C4FC30F65ED9}"/>
              </a:ext>
            </a:extLst>
          </p:cNvPr>
          <p:cNvSpPr txBox="1"/>
          <p:nvPr/>
        </p:nvSpPr>
        <p:spPr>
          <a:xfrm>
            <a:off x="3323166" y="5807631"/>
            <a:ext cx="4868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“From Rule-Based to ML-Driven AML Detection”</a:t>
            </a:r>
            <a:endParaRPr lang="sv-SE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64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66951-2E8F-4634-3811-C9F8EA55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0A677-6260-AB77-40CC-E2C13B5B5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>
                <a:latin typeface="Aptos" panose="020B0004020202020204" pitchFamily="34" charset="0"/>
              </a:rPr>
              <a:t>Data </a:t>
            </a:r>
            <a:r>
              <a:rPr lang="sv-SE" dirty="0" err="1">
                <a:latin typeface="Aptos" panose="020B0004020202020204" pitchFamily="34" charset="0"/>
              </a:rPr>
              <a:t>overview</a:t>
            </a:r>
            <a:endParaRPr lang="sv-SE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040DA-E873-7840-A736-476C23DBB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892"/>
            <a:ext cx="5875866" cy="398200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sv-SE" b="1" dirty="0"/>
              <a:t>Three Data </a:t>
            </a:r>
            <a:r>
              <a:rPr lang="sv-SE" b="1" dirty="0" err="1"/>
              <a:t>Sources</a:t>
            </a:r>
            <a:r>
              <a:rPr lang="sv-SE" b="1" dirty="0"/>
              <a:t> </a:t>
            </a:r>
            <a:r>
              <a:rPr lang="sv-SE" b="1" dirty="0" err="1"/>
              <a:t>are</a:t>
            </a:r>
            <a:r>
              <a:rPr lang="sv-SE" b="1" dirty="0"/>
              <a:t> </a:t>
            </a:r>
            <a:r>
              <a:rPr lang="sv-SE" b="1" dirty="0" err="1"/>
              <a:t>used</a:t>
            </a:r>
            <a:r>
              <a:rPr lang="sv-SE" b="1" dirty="0"/>
              <a:t>:</a:t>
            </a:r>
          </a:p>
          <a:p>
            <a:pPr marL="514350" indent="-514350">
              <a:buAutoNum type="arabicPeriod"/>
            </a:pPr>
            <a:r>
              <a:rPr lang="sv-SE" b="1" dirty="0"/>
              <a:t>KYC Data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	- </a:t>
            </a:r>
            <a:r>
              <a:rPr lang="sv-SE" dirty="0" err="1"/>
              <a:t>Number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customers</a:t>
            </a:r>
            <a:r>
              <a:rPr lang="sv-SE" dirty="0"/>
              <a:t> 1,000</a:t>
            </a:r>
          </a:p>
          <a:p>
            <a:pPr marL="0" indent="0">
              <a:buNone/>
            </a:pPr>
            <a:r>
              <a:rPr lang="sv-SE" dirty="0"/>
              <a:t>	- </a:t>
            </a:r>
            <a:r>
              <a:rPr lang="sv-SE" dirty="0" err="1"/>
              <a:t>Attributes</a:t>
            </a:r>
            <a:r>
              <a:rPr lang="sv-SE" dirty="0"/>
              <a:t>: </a:t>
            </a:r>
            <a:r>
              <a:rPr lang="sv-SE" dirty="0" err="1"/>
              <a:t>Demographics</a:t>
            </a:r>
            <a:r>
              <a:rPr lang="sv-SE" dirty="0"/>
              <a:t>, risk flags, intentions </a:t>
            </a:r>
          </a:p>
          <a:p>
            <a:pPr marL="0" indent="0">
              <a:buNone/>
            </a:pPr>
            <a:r>
              <a:rPr lang="sv-SE" dirty="0"/>
              <a:t>2. </a:t>
            </a:r>
            <a:r>
              <a:rPr lang="sv-SE" b="1" dirty="0" err="1"/>
              <a:t>Transactions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	- Total s 165,736</a:t>
            </a:r>
          </a:p>
          <a:p>
            <a:pPr marL="0" indent="0">
              <a:buNone/>
            </a:pPr>
            <a:r>
              <a:rPr lang="sv-SE" dirty="0"/>
              <a:t>	- All </a:t>
            </a:r>
            <a:r>
              <a:rPr lang="sv-SE" dirty="0" err="1"/>
              <a:t>customer</a:t>
            </a:r>
            <a:r>
              <a:rPr lang="sv-SE" dirty="0"/>
              <a:t> </a:t>
            </a:r>
            <a:r>
              <a:rPr lang="sv-SE" dirty="0" err="1"/>
              <a:t>transactions</a:t>
            </a:r>
            <a:r>
              <a:rPr lang="sv-SE" dirty="0"/>
              <a:t> over 12 </a:t>
            </a:r>
            <a:r>
              <a:rPr lang="sv-SE" dirty="0" err="1"/>
              <a:t>months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3. </a:t>
            </a:r>
            <a:r>
              <a:rPr lang="sv-SE" b="1" dirty="0" err="1"/>
              <a:t>Labels</a:t>
            </a:r>
            <a:r>
              <a:rPr lang="sv-SE" dirty="0"/>
              <a:t> </a:t>
            </a:r>
          </a:p>
          <a:p>
            <a:pPr marL="0" indent="0">
              <a:buNone/>
            </a:pPr>
            <a:r>
              <a:rPr lang="sv-SE" dirty="0"/>
              <a:t>	- </a:t>
            </a:r>
            <a:r>
              <a:rPr lang="sv-SE" dirty="0" err="1"/>
              <a:t>Number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records</a:t>
            </a:r>
            <a:r>
              <a:rPr lang="sv-SE" dirty="0"/>
              <a:t>: 12,000 (</a:t>
            </a:r>
            <a:r>
              <a:rPr lang="sv-SE" dirty="0" err="1"/>
              <a:t>customer-months</a:t>
            </a:r>
            <a:r>
              <a:rPr lang="sv-SE" dirty="0"/>
              <a:t> combinations)</a:t>
            </a:r>
          </a:p>
          <a:p>
            <a:pPr marL="0" indent="0">
              <a:buNone/>
            </a:pPr>
            <a:r>
              <a:rPr lang="sv-SE" dirty="0"/>
              <a:t>	- SAR </a:t>
            </a:r>
            <a:r>
              <a:rPr lang="sv-SE" dirty="0" err="1"/>
              <a:t>filings</a:t>
            </a:r>
            <a:r>
              <a:rPr lang="sv-SE" dirty="0"/>
              <a:t> (</a:t>
            </a:r>
            <a:r>
              <a:rPr lang="sv-SE" dirty="0" err="1"/>
              <a:t>ground</a:t>
            </a:r>
            <a:r>
              <a:rPr lang="sv-SE" dirty="0"/>
              <a:t> </a:t>
            </a:r>
            <a:r>
              <a:rPr lang="sv-SE" dirty="0" err="1"/>
              <a:t>truth</a:t>
            </a:r>
            <a:r>
              <a:rPr lang="sv-SE" dirty="0"/>
              <a:t>): 0- No SAR, 1- SAR </a:t>
            </a:r>
            <a:r>
              <a:rPr lang="sv-SE" dirty="0" err="1"/>
              <a:t>Filed</a:t>
            </a:r>
            <a:endParaRPr lang="sv-SE" dirty="0"/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700E9F-5B18-0C48-B25D-9D2FFD941D94}"/>
              </a:ext>
            </a:extLst>
          </p:cNvPr>
          <p:cNvSpPr txBox="1">
            <a:spLocks/>
          </p:cNvSpPr>
          <p:nvPr/>
        </p:nvSpPr>
        <p:spPr>
          <a:xfrm>
            <a:off x="7095067" y="1690688"/>
            <a:ext cx="4639734" cy="3982006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v-SE" sz="6500" b="1" dirty="0">
                <a:solidFill>
                  <a:schemeClr val="accent6"/>
                </a:solidFill>
              </a:rPr>
              <a:t>Feature </a:t>
            </a:r>
            <a:r>
              <a:rPr lang="sv-SE" sz="6500" b="1" dirty="0" err="1">
                <a:solidFill>
                  <a:schemeClr val="accent6"/>
                </a:solidFill>
              </a:rPr>
              <a:t>Engineering</a:t>
            </a:r>
            <a:endParaRPr lang="en-US" sz="6500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b="1" dirty="0"/>
              <a:t>Created 21 Features Across 3 Categories: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1. Transaction Volume (8 features)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- Turnover, count, sum, mean, std, min, max, range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2. Flow Patterns (7 features)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- Incoming/outgoing counts and amounts</a:t>
            </a:r>
          </a:p>
          <a:p>
            <a:pPr marL="0" indent="0">
              <a:buNone/>
            </a:pPr>
            <a:r>
              <a:rPr lang="en-US" dirty="0"/>
              <a:t>    - Flow ratio, internal transaction ratio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3. Customer Profile (6 features)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- Age, sex, high-risk country, vulnerable area</a:t>
            </a:r>
          </a:p>
          <a:p>
            <a:pPr marL="0" indent="0">
              <a:buNone/>
            </a:pPr>
            <a:r>
              <a:rPr lang="en-US" dirty="0"/>
              <a:t>     - Payment intentions</a:t>
            </a:r>
          </a:p>
        </p:txBody>
      </p:sp>
    </p:spTree>
    <p:extLst>
      <p:ext uri="{BB962C8B-B14F-4D97-AF65-F5344CB8AC3E}">
        <p14:creationId xmlns:p14="http://schemas.microsoft.com/office/powerpoint/2010/main" val="776870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6F1D0-2297-C36D-CD58-E6FC04D1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b="1" dirty="0"/>
              <a:t>Data </a:t>
            </a:r>
            <a:r>
              <a:rPr lang="sv-SE" b="1" dirty="0" err="1"/>
              <a:t>Exploration</a:t>
            </a:r>
            <a:r>
              <a:rPr lang="sv-SE" b="1" dirty="0"/>
              <a:t> - </a:t>
            </a:r>
            <a:r>
              <a:rPr lang="sv-SE" b="1" dirty="0" err="1"/>
              <a:t>Key</a:t>
            </a:r>
            <a:r>
              <a:rPr lang="sv-SE" b="1" dirty="0"/>
              <a:t> </a:t>
            </a:r>
            <a:r>
              <a:rPr lang="sv-SE" b="1" dirty="0" err="1"/>
              <a:t>Insights</a:t>
            </a:r>
            <a:endParaRPr lang="sv-S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72B79E-E2B7-96D1-EC9F-8A8316E681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SAR Distribution:</a:t>
            </a:r>
            <a:endParaRPr lang="en-US" dirty="0"/>
          </a:p>
          <a:p>
            <a:r>
              <a:rPr lang="en-US" dirty="0"/>
              <a:t>35-56 SARs filed across 12 months</a:t>
            </a:r>
          </a:p>
          <a:p>
            <a:r>
              <a:rPr lang="en-US" dirty="0"/>
              <a:t>Varies by month -seasonal patterns</a:t>
            </a:r>
          </a:p>
          <a:p>
            <a:pPr lvl="1"/>
            <a:r>
              <a:rPr lang="en-US" dirty="0"/>
              <a:t>The highest volumes occur in January (54 filings, 10.3%) and April (56 filings, 10.7%), suggesting possible links to:</a:t>
            </a:r>
          </a:p>
          <a:p>
            <a:pPr lvl="1"/>
            <a:r>
              <a:rPr lang="en-US" dirty="0"/>
              <a:t>End-of-year financial reporting cycles (Jan)</a:t>
            </a:r>
          </a:p>
          <a:p>
            <a:pPr lvl="1"/>
            <a:r>
              <a:rPr lang="en-US" dirty="0"/>
              <a:t>Tax season or quarterly deadlines (Apr)</a:t>
            </a:r>
          </a:p>
          <a:p>
            <a:pPr lvl="1"/>
            <a:r>
              <a:rPr lang="en-US" dirty="0"/>
              <a:t>Conversely, March (35, 6.7%) and August (35, 6.7%) show the lowest activity - possibly due to slower periods during holidays or reduced transaction volumes.	</a:t>
            </a:r>
          </a:p>
          <a:p>
            <a:r>
              <a:rPr lang="sv-SE" dirty="0"/>
              <a:t>Overall SARs </a:t>
            </a:r>
            <a:r>
              <a:rPr lang="sv-SE" dirty="0" err="1"/>
              <a:t>filed</a:t>
            </a:r>
            <a:r>
              <a:rPr lang="sv-SE" dirty="0"/>
              <a:t> rate 4.4%.</a:t>
            </a:r>
          </a:p>
          <a:p>
            <a:r>
              <a:rPr lang="en-US" dirty="0"/>
              <a:t>About 308 unique customers</a:t>
            </a:r>
            <a:r>
              <a:rPr lang="sv-SE" dirty="0"/>
              <a:t> (30.8%)</a:t>
            </a:r>
            <a:r>
              <a:rPr lang="en-US" dirty="0"/>
              <a:t> with SARs</a:t>
            </a:r>
          </a:p>
          <a:p>
            <a:pPr marL="0" indent="0">
              <a:buNone/>
            </a:pPr>
            <a:endParaRPr lang="sv-SE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sv-SE" b="1" dirty="0" err="1">
                <a:solidFill>
                  <a:schemeClr val="accent2"/>
                </a:solidFill>
              </a:rPr>
              <a:t>Key</a:t>
            </a:r>
            <a:r>
              <a:rPr lang="sv-SE" b="1" dirty="0">
                <a:solidFill>
                  <a:schemeClr val="accent2"/>
                </a:solidFill>
              </a:rPr>
              <a:t> Challenge</a:t>
            </a:r>
            <a:r>
              <a:rPr lang="sv-SE" dirty="0"/>
              <a:t>: </a:t>
            </a:r>
            <a:r>
              <a:rPr lang="sv-SE" dirty="0" err="1"/>
              <a:t>Highly</a:t>
            </a:r>
            <a:r>
              <a:rPr lang="sv-SE" dirty="0"/>
              <a:t> </a:t>
            </a:r>
            <a:r>
              <a:rPr lang="sv-SE" dirty="0" err="1"/>
              <a:t>imbalanced</a:t>
            </a:r>
            <a:r>
              <a:rPr lang="sv-SE" dirty="0"/>
              <a:t> (~4% SAR rate)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676E01-C7A4-A073-9D7A-D59BC4785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904" y="1690688"/>
            <a:ext cx="4054191" cy="25986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6C4F8A-D99C-C772-DAC8-F792F54FC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626" y="4289333"/>
            <a:ext cx="3520745" cy="227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295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5B5C1-FAD0-5B32-DD7F-BAF6500D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DCE4A-B633-6D5F-B262-EA32EFD7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b="1" dirty="0"/>
              <a:t>Feature </a:t>
            </a:r>
            <a:r>
              <a:rPr lang="sv-SE" b="1" dirty="0" err="1"/>
              <a:t>Correlations</a:t>
            </a:r>
            <a:endParaRPr lang="sv-S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28E487-1D62-71FD-B6A1-015FF19F715A}"/>
              </a:ext>
            </a:extLst>
          </p:cNvPr>
          <p:cNvSpPr txBox="1"/>
          <p:nvPr/>
        </p:nvSpPr>
        <p:spPr>
          <a:xfrm>
            <a:off x="6675120" y="1674674"/>
            <a:ext cx="44119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Turnover most correlated (but not only factor)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Transaction patterns matter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Customer risk profile adds signal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Flow ratios (income vs outgoing) important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F0EF6D-08CE-329B-C71A-08ED8DFCD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65" y="1379220"/>
            <a:ext cx="6017678" cy="53761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20A6A5-7747-BFC6-52A8-911FBCC0BEE2}"/>
              </a:ext>
            </a:extLst>
          </p:cNvPr>
          <p:cNvSpPr txBox="1"/>
          <p:nvPr/>
        </p:nvSpPr>
        <p:spPr>
          <a:xfrm>
            <a:off x="922867" y="6426200"/>
            <a:ext cx="37676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00" b="1" dirty="0" err="1"/>
              <a:t>Fig</a:t>
            </a:r>
            <a:r>
              <a:rPr lang="sv-SE" sz="1000" b="1" dirty="0"/>
              <a:t>: </a:t>
            </a:r>
            <a:r>
              <a:rPr lang="sv-SE" sz="1000" b="1" dirty="0" err="1"/>
              <a:t>Heatmap</a:t>
            </a:r>
            <a:r>
              <a:rPr lang="sv-SE" sz="1000" b="1" dirty="0"/>
              <a:t> </a:t>
            </a:r>
            <a:r>
              <a:rPr lang="sv-SE" sz="1000" b="1" dirty="0" err="1"/>
              <a:t>of</a:t>
            </a:r>
            <a:r>
              <a:rPr lang="sv-SE" sz="1000" b="1" dirty="0"/>
              <a:t> feature </a:t>
            </a:r>
            <a:r>
              <a:rPr lang="sv-SE" sz="1000" b="1" dirty="0" err="1"/>
              <a:t>confusion</a:t>
            </a:r>
            <a:r>
              <a:rPr lang="sv-SE" sz="1000" b="1" dirty="0"/>
              <a:t> matrix</a:t>
            </a:r>
          </a:p>
        </p:txBody>
      </p:sp>
    </p:spTree>
    <p:extLst>
      <p:ext uri="{BB962C8B-B14F-4D97-AF65-F5344CB8AC3E}">
        <p14:creationId xmlns:p14="http://schemas.microsoft.com/office/powerpoint/2010/main" val="3846158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EC1D6-73F8-A455-5F9A-4DEDF84E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CFD2-A712-80FC-0A9F-B3F070D16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b="1" dirty="0" err="1"/>
              <a:t>Statistical</a:t>
            </a:r>
            <a:r>
              <a:rPr lang="sv-SE" b="1" dirty="0"/>
              <a:t> </a:t>
            </a:r>
            <a:r>
              <a:rPr lang="sv-SE" b="1" dirty="0" err="1"/>
              <a:t>Significance</a:t>
            </a:r>
            <a:endParaRPr lang="sv-S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52E84-7C14-636B-A3B7-3CE94E109E81}"/>
              </a:ext>
            </a:extLst>
          </p:cNvPr>
          <p:cNvSpPr txBox="1"/>
          <p:nvPr/>
        </p:nvSpPr>
        <p:spPr>
          <a:xfrm>
            <a:off x="838200" y="1623756"/>
            <a:ext cx="653015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Most features show significant difference between SAR and non-SAR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Turnover, transaction count, mean, min, range, and flow amounts differ highly significantly (p &lt; 0.001) between SAR and non-SAR customers - strong behavioral discriminators.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Age and </a:t>
            </a:r>
            <a:r>
              <a:rPr lang="en-US" dirty="0" err="1"/>
              <a:t>Vulnerable_Area</a:t>
            </a:r>
            <a:r>
              <a:rPr lang="en-US" dirty="0"/>
              <a:t> are significant (p &lt; 0.01), suggesting older customers and those from vulnerable regions are overrepresented in SAR cases.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Intention_International_Payments</a:t>
            </a:r>
            <a:r>
              <a:rPr lang="en-US" dirty="0"/>
              <a:t> is borderline significant (p ≈ 0.044) - may need further monitoring.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Internal_txn_count</a:t>
            </a:r>
            <a:r>
              <a:rPr lang="en-US" dirty="0"/>
              <a:t>, </a:t>
            </a:r>
            <a:r>
              <a:rPr lang="en-US" dirty="0" err="1"/>
              <a:t>flow_ratio</a:t>
            </a:r>
            <a:r>
              <a:rPr lang="en-US" dirty="0"/>
              <a:t>, </a:t>
            </a:r>
            <a:r>
              <a:rPr lang="en-US" dirty="0" err="1"/>
              <a:t>High_Risk_Country</a:t>
            </a:r>
            <a:r>
              <a:rPr lang="en-US" dirty="0"/>
              <a:t> and </a:t>
            </a:r>
            <a:r>
              <a:rPr lang="en-US" dirty="0" err="1"/>
              <a:t>Intention_Cash_Deposits</a:t>
            </a:r>
            <a:r>
              <a:rPr lang="en-US" dirty="0"/>
              <a:t> show no significant difference, and may not reflect actual suspicious behavior.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22AB57-81A4-264F-EB26-911346FE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154" y="1904048"/>
            <a:ext cx="4282811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5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0C34-2BCF-E48B-1BB0-3467BBE45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Features Distributions by SAR Status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C10C6F-688B-B03C-2D78-FD7172E675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9677" y="1563158"/>
            <a:ext cx="6412646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692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B528A-D967-9404-E231-29C8CAD6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 err="1">
                <a:latin typeface="Aptos" panose="020B0004020202020204" pitchFamily="34" charset="0"/>
              </a:rPr>
              <a:t>Current</a:t>
            </a:r>
            <a:r>
              <a:rPr lang="sv-SE" b="1" dirty="0">
                <a:latin typeface="Aptos" panose="020B0004020202020204" pitchFamily="34" charset="0"/>
              </a:rPr>
              <a:t> </a:t>
            </a:r>
            <a:r>
              <a:rPr lang="sv-SE" b="1" dirty="0" err="1">
                <a:latin typeface="Aptos" panose="020B0004020202020204" pitchFamily="34" charset="0"/>
              </a:rPr>
              <a:t>Rule</a:t>
            </a:r>
            <a:r>
              <a:rPr lang="sv-SE" b="1" dirty="0">
                <a:latin typeface="Aptos" panose="020B0004020202020204" pitchFamily="34" charset="0"/>
              </a:rPr>
              <a:t> </a:t>
            </a:r>
            <a:r>
              <a:rPr lang="sv-SE" b="1" dirty="0" err="1">
                <a:latin typeface="Aptos" panose="020B0004020202020204" pitchFamily="34" charset="0"/>
              </a:rPr>
              <a:t>Performance</a:t>
            </a:r>
            <a:endParaRPr lang="sv-SE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48968-A377-8E53-4CAA-3EC59D91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2667" cy="4351338"/>
          </a:xfrm>
        </p:spPr>
        <p:txBody>
          <a:bodyPr/>
          <a:lstStyle/>
          <a:p>
            <a:r>
              <a:rPr lang="en-US" b="1" dirty="0"/>
              <a:t>Baseline Metrics</a:t>
            </a:r>
          </a:p>
          <a:p>
            <a:pPr lvl="1"/>
            <a:r>
              <a:rPr lang="en-US" dirty="0"/>
              <a:t>Very Low Precision (7.8%) - For every 1 true SAR, ~12 false positives flagged.</a:t>
            </a:r>
          </a:p>
          <a:p>
            <a:pPr lvl="1"/>
            <a:r>
              <a:rPr lang="en-US" dirty="0"/>
              <a:t>Perfect Recall (100%) - No SARs missed. All 525 suspicious cases captured.</a:t>
            </a:r>
          </a:p>
          <a:p>
            <a:pPr lvl="1"/>
            <a:r>
              <a:rPr lang="en-US" dirty="0"/>
              <a:t>High False Positive Rate (54%) - Over half of all flagged customers are non-SAR → high operational cost.</a:t>
            </a:r>
            <a:endParaRPr lang="sv-SE" dirty="0"/>
          </a:p>
          <a:p>
            <a:pPr lvl="1"/>
            <a:r>
              <a:rPr lang="en-US" dirty="0"/>
              <a:t>55.8% of Customers Flagged - Rule is overly broad; nearly half the customer base triggers alerts.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EA68E9-B03D-05FB-9543-3A870FED7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173" y="1614488"/>
            <a:ext cx="3215919" cy="2301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BF3EF4-7894-7945-D06D-0DC20E3A1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950" y="3915927"/>
            <a:ext cx="3863675" cy="23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920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D80FB-B8D7-48A5-BE8C-DDFA8D8D05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0862" y="6342061"/>
            <a:ext cx="651509" cy="365125"/>
          </a:xfrm>
        </p:spPr>
        <p:txBody>
          <a:bodyPr/>
          <a:lstStyle/>
          <a:p>
            <a:fld id="{603F2C8F-2988-2547-AA69-A6325C8C35E4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683000-7E5D-4AEA-B30E-1D8C847B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Machine Learning Techniques (Supervised)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26CD9A8-042B-3C43-9720-718F52379491}"/>
              </a:ext>
            </a:extLst>
          </p:cNvPr>
          <p:cNvSpPr/>
          <p:nvPr/>
        </p:nvSpPr>
        <p:spPr>
          <a:xfrm>
            <a:off x="146944" y="2875298"/>
            <a:ext cx="4646416" cy="1640122"/>
          </a:xfrm>
          <a:prstGeom prst="ellipse">
            <a:avLst/>
          </a:prstGeom>
          <a:solidFill>
            <a:schemeClr val="tx2">
              <a:lumMod val="5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Supervised Machine Learning: </a:t>
            </a:r>
            <a:r>
              <a:rPr lang="sv-SE" b="1" i="1" dirty="0">
                <a:solidFill>
                  <a:schemeClr val="bg1"/>
                </a:solidFill>
              </a:rPr>
              <a:t>It </a:t>
            </a:r>
            <a:r>
              <a:rPr lang="sv-SE" b="1" i="1" dirty="0" err="1">
                <a:solidFill>
                  <a:schemeClr val="bg1"/>
                </a:solidFill>
              </a:rPr>
              <a:t>uses</a:t>
            </a:r>
            <a:r>
              <a:rPr lang="sv-SE" b="1" i="1" dirty="0">
                <a:solidFill>
                  <a:schemeClr val="bg1"/>
                </a:solidFill>
              </a:rPr>
              <a:t> ”</a:t>
            </a:r>
            <a:r>
              <a:rPr lang="sv-SE" b="1" i="1" dirty="0" err="1">
                <a:solidFill>
                  <a:schemeClr val="bg1"/>
                </a:solidFill>
              </a:rPr>
              <a:t>labeled</a:t>
            </a:r>
            <a:r>
              <a:rPr lang="sv-SE" b="1" i="1" dirty="0">
                <a:solidFill>
                  <a:schemeClr val="bg1"/>
                </a:solidFill>
              </a:rPr>
              <a:t>” data to </a:t>
            </a:r>
            <a:r>
              <a:rPr lang="sv-SE" b="1" i="1" dirty="0" err="1">
                <a:solidFill>
                  <a:schemeClr val="bg1"/>
                </a:solidFill>
              </a:rPr>
              <a:t>build</a:t>
            </a:r>
            <a:r>
              <a:rPr lang="sv-SE" b="1" i="1" dirty="0">
                <a:solidFill>
                  <a:schemeClr val="bg1"/>
                </a:solidFill>
              </a:rPr>
              <a:t> </a:t>
            </a:r>
            <a:r>
              <a:rPr lang="sv-SE" b="1" i="1" dirty="0" err="1">
                <a:solidFill>
                  <a:schemeClr val="bg1"/>
                </a:solidFill>
              </a:rPr>
              <a:t>model</a:t>
            </a:r>
            <a:r>
              <a:rPr lang="sv-SE" b="1" i="1" dirty="0">
                <a:solidFill>
                  <a:schemeClr val="bg1"/>
                </a:solidFill>
              </a:rPr>
              <a:t> and make </a:t>
            </a:r>
            <a:r>
              <a:rPr lang="sv-SE" b="1" i="1" dirty="0" err="1">
                <a:solidFill>
                  <a:schemeClr val="bg1"/>
                </a:solidFill>
              </a:rPr>
              <a:t>predictions</a:t>
            </a:r>
            <a:r>
              <a:rPr lang="sv-SE" b="1" i="1" dirty="0">
                <a:solidFill>
                  <a:schemeClr val="bg1"/>
                </a:solidFill>
              </a:rPr>
              <a:t> to ”</a:t>
            </a:r>
            <a:r>
              <a:rPr lang="sv-SE" b="1" i="1" dirty="0" err="1">
                <a:solidFill>
                  <a:schemeClr val="bg1"/>
                </a:solidFill>
              </a:rPr>
              <a:t>unlabeled</a:t>
            </a:r>
            <a:r>
              <a:rPr lang="sv-SE" b="1" i="1" dirty="0">
                <a:solidFill>
                  <a:schemeClr val="bg1"/>
                </a:solidFill>
              </a:rPr>
              <a:t>/not </a:t>
            </a:r>
            <a:r>
              <a:rPr lang="sv-SE" b="1" i="1" dirty="0" err="1">
                <a:solidFill>
                  <a:schemeClr val="bg1"/>
                </a:solidFill>
              </a:rPr>
              <a:t>seen</a:t>
            </a:r>
            <a:r>
              <a:rPr lang="sv-SE" b="1" i="1" dirty="0">
                <a:solidFill>
                  <a:schemeClr val="bg1"/>
                </a:solidFill>
              </a:rPr>
              <a:t>” data</a:t>
            </a:r>
            <a:endParaRPr lang="en-US" b="1" i="1" dirty="0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C4A80AC-5B2C-F88E-A081-431A041BE990}"/>
              </a:ext>
            </a:extLst>
          </p:cNvPr>
          <p:cNvGrpSpPr/>
          <p:nvPr/>
        </p:nvGrpSpPr>
        <p:grpSpPr>
          <a:xfrm>
            <a:off x="5101538" y="2151092"/>
            <a:ext cx="6470023" cy="3564560"/>
            <a:chOff x="5078750" y="2724208"/>
            <a:chExt cx="5862344" cy="3113229"/>
          </a:xfrm>
        </p:grpSpPr>
        <p:sp>
          <p:nvSpPr>
            <p:cNvPr id="3" name="Flowchart: Magnetic Disk 2">
              <a:extLst>
                <a:ext uri="{FF2B5EF4-FFF2-40B4-BE49-F238E27FC236}">
                  <a16:creationId xmlns:a16="http://schemas.microsoft.com/office/drawing/2014/main" id="{F5A4CF19-1103-67B9-AE2A-45B0E435C921}"/>
                </a:ext>
              </a:extLst>
            </p:cNvPr>
            <p:cNvSpPr/>
            <p:nvPr/>
          </p:nvSpPr>
          <p:spPr>
            <a:xfrm>
              <a:off x="5078750" y="2724208"/>
              <a:ext cx="905405" cy="765954"/>
            </a:xfrm>
            <a:prstGeom prst="flowChartMagneticDisk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1200" b="1" dirty="0" err="1">
                  <a:ln w="0"/>
                  <a:solidFill>
                    <a:srgbClr val="FFFFFF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Historical</a:t>
              </a:r>
              <a:r>
                <a:rPr lang="sv-SE" sz="1200" b="1" dirty="0">
                  <a:ln w="0"/>
                  <a:solidFill>
                    <a:srgbClr val="FFFFFF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Data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0D2D802-164B-A8C4-8740-8E9129320C61}"/>
                </a:ext>
              </a:extLst>
            </p:cNvPr>
            <p:cNvSpPr/>
            <p:nvPr/>
          </p:nvSpPr>
          <p:spPr>
            <a:xfrm>
              <a:off x="6697092" y="2931693"/>
              <a:ext cx="932156" cy="3984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1200" b="1" dirty="0">
                  <a:solidFill>
                    <a:schemeClr val="tx1"/>
                  </a:solidFill>
                </a:rPr>
                <a:t>Features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209C90-3D34-9F70-56B0-15AC00835E53}"/>
                </a:ext>
              </a:extLst>
            </p:cNvPr>
            <p:cNvSpPr/>
            <p:nvPr/>
          </p:nvSpPr>
          <p:spPr>
            <a:xfrm>
              <a:off x="8510357" y="2743199"/>
              <a:ext cx="737708" cy="914402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E9243F4-ACBB-F342-7667-8F72FB0910C0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V="1">
              <a:off x="8510357" y="3068305"/>
              <a:ext cx="110462" cy="132095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15F3FFB-439E-CBBF-7E18-2667B3CE07AC}"/>
                </a:ext>
              </a:extLst>
            </p:cNvPr>
            <p:cNvSpPr/>
            <p:nvPr/>
          </p:nvSpPr>
          <p:spPr>
            <a:xfrm flipH="1">
              <a:off x="8606696" y="2980199"/>
              <a:ext cx="110462" cy="11046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 err="1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7164651-B18F-3D59-CE87-6CDAB039A0EA}"/>
                </a:ext>
              </a:extLst>
            </p:cNvPr>
            <p:cNvCxnSpPr>
              <a:cxnSpLocks/>
            </p:cNvCxnSpPr>
            <p:nvPr/>
          </p:nvCxnSpPr>
          <p:spPr>
            <a:xfrm>
              <a:off x="8717158" y="3070266"/>
              <a:ext cx="134899" cy="132095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A11538A-B298-BF01-FB7D-861A83B7A5C3}"/>
                </a:ext>
              </a:extLst>
            </p:cNvPr>
            <p:cNvSpPr/>
            <p:nvPr/>
          </p:nvSpPr>
          <p:spPr>
            <a:xfrm flipH="1">
              <a:off x="8833824" y="3181573"/>
              <a:ext cx="110462" cy="11046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 err="1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D947BE1-0660-59C3-5D9D-7FF0C8AED264}"/>
                </a:ext>
              </a:extLst>
            </p:cNvPr>
            <p:cNvCxnSpPr>
              <a:cxnSpLocks/>
              <a:stCxn id="12" idx="1"/>
              <a:endCxn id="14" idx="5"/>
            </p:cNvCxnSpPr>
            <p:nvPr/>
          </p:nvCxnSpPr>
          <p:spPr>
            <a:xfrm flipV="1">
              <a:off x="8928109" y="2993644"/>
              <a:ext cx="94747" cy="204106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F80A955-50B1-4FBC-46CD-F67056BDEB85}"/>
                </a:ext>
              </a:extLst>
            </p:cNvPr>
            <p:cNvSpPr/>
            <p:nvPr/>
          </p:nvSpPr>
          <p:spPr>
            <a:xfrm flipH="1">
              <a:off x="9006679" y="2899359"/>
              <a:ext cx="110462" cy="11046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 err="1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FEBAFCF-ACB0-9511-BE4F-2746CD0DECD7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9117141" y="2954590"/>
              <a:ext cx="130923" cy="0"/>
            </a:xfrm>
            <a:prstGeom prst="line">
              <a:avLst/>
            </a:prstGeom>
            <a:ln w="285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D4C1200-148E-A436-E1BC-4375AE2A4B7A}"/>
                </a:ext>
              </a:extLst>
            </p:cNvPr>
            <p:cNvSpPr txBox="1"/>
            <p:nvPr/>
          </p:nvSpPr>
          <p:spPr>
            <a:xfrm>
              <a:off x="8473973" y="3688017"/>
              <a:ext cx="813529" cy="19145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r>
                <a:rPr lang="sv-SE" sz="1200" b="1" dirty="0" err="1"/>
                <a:t>Build</a:t>
              </a:r>
              <a:r>
                <a:rPr lang="sv-SE" sz="1200" b="1" dirty="0"/>
                <a:t> </a:t>
              </a:r>
              <a:r>
                <a:rPr lang="sv-SE" sz="1200" b="1" dirty="0" err="1"/>
                <a:t>Model</a:t>
              </a:r>
              <a:endParaRPr lang="sv-SE" sz="1200" b="1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990FBC8-01C6-7BA9-5944-C3AD22ED1404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8880738" y="3879469"/>
              <a:ext cx="7997" cy="759206"/>
            </a:xfrm>
            <a:prstGeom prst="straightConnector1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8438A53-9DFE-75A7-F235-11DB8538C816}"/>
                </a:ext>
              </a:extLst>
            </p:cNvPr>
            <p:cNvCxnSpPr>
              <a:cxnSpLocks/>
            </p:cNvCxnSpPr>
            <p:nvPr/>
          </p:nvCxnSpPr>
          <p:spPr>
            <a:xfrm>
              <a:off x="6062726" y="3134352"/>
              <a:ext cx="557149" cy="0"/>
            </a:xfrm>
            <a:prstGeom prst="straightConnector1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0925024-13B1-D269-985F-35ABDBFD4CB9}"/>
                </a:ext>
              </a:extLst>
            </p:cNvPr>
            <p:cNvCxnSpPr>
              <a:cxnSpLocks/>
            </p:cNvCxnSpPr>
            <p:nvPr/>
          </p:nvCxnSpPr>
          <p:spPr>
            <a:xfrm>
              <a:off x="7786751" y="3143877"/>
              <a:ext cx="557149" cy="0"/>
            </a:xfrm>
            <a:prstGeom prst="straightConnector1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A91F8B0-005E-AA39-9092-B2B1E1DFC0F7}"/>
                </a:ext>
              </a:extLst>
            </p:cNvPr>
            <p:cNvSpPr txBox="1"/>
            <p:nvPr/>
          </p:nvSpPr>
          <p:spPr>
            <a:xfrm>
              <a:off x="8905286" y="4132639"/>
              <a:ext cx="989271" cy="182186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r>
                <a:rPr lang="sv-SE" sz="1000" b="1" i="1" dirty="0"/>
                <a:t>F(X1,X2) = 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447E786-4B01-FB3D-CA38-DF525CF47D26}"/>
                </a:ext>
              </a:extLst>
            </p:cNvPr>
            <p:cNvSpPr txBox="1"/>
            <p:nvPr/>
          </p:nvSpPr>
          <p:spPr>
            <a:xfrm>
              <a:off x="6709932" y="2759106"/>
              <a:ext cx="890741" cy="172587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r>
                <a:rPr lang="sv-SE" sz="1000" b="1" dirty="0"/>
                <a:t>X1,X2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6220D32-463D-2D6C-2EBD-61C672015FBB}"/>
                </a:ext>
              </a:extLst>
            </p:cNvPr>
            <p:cNvSpPr/>
            <p:nvPr/>
          </p:nvSpPr>
          <p:spPr>
            <a:xfrm>
              <a:off x="6735209" y="4899186"/>
              <a:ext cx="932156" cy="3984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1200" b="1" dirty="0">
                  <a:solidFill>
                    <a:schemeClr val="tx1"/>
                  </a:solidFill>
                </a:rPr>
                <a:t>Features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C32687-9FEC-CA9D-D4B1-D113063EC698}"/>
                </a:ext>
              </a:extLst>
            </p:cNvPr>
            <p:cNvSpPr/>
            <p:nvPr/>
          </p:nvSpPr>
          <p:spPr>
            <a:xfrm>
              <a:off x="8548474" y="4710692"/>
              <a:ext cx="737707" cy="914401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BAEF94F-0A08-D8BD-38F3-1841FE37A35B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flipV="1">
              <a:off x="8548474" y="5035798"/>
              <a:ext cx="110462" cy="13209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F71BF33-89F6-E1F6-E4FB-1C9D94391769}"/>
                </a:ext>
              </a:extLst>
            </p:cNvPr>
            <p:cNvSpPr/>
            <p:nvPr/>
          </p:nvSpPr>
          <p:spPr>
            <a:xfrm flipH="1">
              <a:off x="8644813" y="4947692"/>
              <a:ext cx="110462" cy="11046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 err="1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A748105-486E-5D14-B255-4AF803CEA2E4}"/>
                </a:ext>
              </a:extLst>
            </p:cNvPr>
            <p:cNvCxnSpPr>
              <a:cxnSpLocks/>
            </p:cNvCxnSpPr>
            <p:nvPr/>
          </p:nvCxnSpPr>
          <p:spPr>
            <a:xfrm>
              <a:off x="8755275" y="5037759"/>
              <a:ext cx="134899" cy="13209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D16A8F1-8BFE-85ED-D9CA-DA0924582499}"/>
                </a:ext>
              </a:extLst>
            </p:cNvPr>
            <p:cNvSpPr/>
            <p:nvPr/>
          </p:nvSpPr>
          <p:spPr>
            <a:xfrm flipH="1">
              <a:off x="8871941" y="5149066"/>
              <a:ext cx="110462" cy="11046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 err="1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3CC3B4-BE20-981E-3BB8-1B6A2F24BD80}"/>
                </a:ext>
              </a:extLst>
            </p:cNvPr>
            <p:cNvCxnSpPr>
              <a:cxnSpLocks/>
              <a:stCxn id="27" idx="1"/>
              <a:endCxn id="29" idx="5"/>
            </p:cNvCxnSpPr>
            <p:nvPr/>
          </p:nvCxnSpPr>
          <p:spPr>
            <a:xfrm flipV="1">
              <a:off x="8966226" y="4961137"/>
              <a:ext cx="94747" cy="2041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4781599-37F0-6854-54D1-8432DA0DF47E}"/>
                </a:ext>
              </a:extLst>
            </p:cNvPr>
            <p:cNvSpPr/>
            <p:nvPr/>
          </p:nvSpPr>
          <p:spPr>
            <a:xfrm flipH="1">
              <a:off x="9044796" y="4866852"/>
              <a:ext cx="110462" cy="11046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 err="1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C259604-D809-FD38-7F04-4C0AA60E2989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>
              <a:off x="9155258" y="4922083"/>
              <a:ext cx="13092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F77D8E1-C1BC-282B-0638-87FC3B104D2A}"/>
                </a:ext>
              </a:extLst>
            </p:cNvPr>
            <p:cNvSpPr txBox="1"/>
            <p:nvPr/>
          </p:nvSpPr>
          <p:spPr>
            <a:xfrm>
              <a:off x="8512090" y="5645985"/>
              <a:ext cx="813529" cy="19145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r>
                <a:rPr lang="sv-SE" sz="1200" b="1" dirty="0" err="1"/>
                <a:t>Use</a:t>
              </a:r>
              <a:r>
                <a:rPr lang="sv-SE" sz="1200" b="1" dirty="0"/>
                <a:t> </a:t>
              </a:r>
              <a:r>
                <a:rPr lang="sv-SE" sz="1200" b="1" dirty="0" err="1"/>
                <a:t>Model</a:t>
              </a:r>
              <a:endParaRPr lang="sv-SE" sz="1200" b="1" dirty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33D1CD5-D47D-DAA3-873D-5844B9F0092A}"/>
                </a:ext>
              </a:extLst>
            </p:cNvPr>
            <p:cNvCxnSpPr>
              <a:cxnSpLocks/>
            </p:cNvCxnSpPr>
            <p:nvPr/>
          </p:nvCxnSpPr>
          <p:spPr>
            <a:xfrm>
              <a:off x="6100843" y="5101845"/>
              <a:ext cx="557149" cy="0"/>
            </a:xfrm>
            <a:prstGeom prst="straightConnector1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4583435-FE59-35A4-4070-852C2452B12A}"/>
                </a:ext>
              </a:extLst>
            </p:cNvPr>
            <p:cNvCxnSpPr>
              <a:cxnSpLocks/>
            </p:cNvCxnSpPr>
            <p:nvPr/>
          </p:nvCxnSpPr>
          <p:spPr>
            <a:xfrm>
              <a:off x="7824868" y="5111370"/>
              <a:ext cx="557149" cy="0"/>
            </a:xfrm>
            <a:prstGeom prst="straightConnector1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F86C907-4C1E-E747-B5E8-83429208E242}"/>
                </a:ext>
              </a:extLst>
            </p:cNvPr>
            <p:cNvSpPr txBox="1"/>
            <p:nvPr/>
          </p:nvSpPr>
          <p:spPr>
            <a:xfrm>
              <a:off x="6748049" y="4726599"/>
              <a:ext cx="890741" cy="172587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r>
                <a:rPr lang="sv-SE" sz="1000" b="1" dirty="0"/>
                <a:t>X1,X2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3C1990A-864B-7934-0706-E38DCDBFFBDD}"/>
                </a:ext>
              </a:extLst>
            </p:cNvPr>
            <p:cNvCxnSpPr>
              <a:cxnSpLocks/>
            </p:cNvCxnSpPr>
            <p:nvPr/>
          </p:nvCxnSpPr>
          <p:spPr>
            <a:xfrm>
              <a:off x="9339343" y="5120895"/>
              <a:ext cx="757157" cy="0"/>
            </a:xfrm>
            <a:prstGeom prst="straightConnector1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14695C6-19B7-E38E-8BBE-ECDE26B3E570}"/>
                </a:ext>
              </a:extLst>
            </p:cNvPr>
            <p:cNvSpPr txBox="1"/>
            <p:nvPr/>
          </p:nvSpPr>
          <p:spPr>
            <a:xfrm>
              <a:off x="9452638" y="5136668"/>
              <a:ext cx="557150" cy="182185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r>
                <a:rPr lang="sv-SE" sz="1200" b="1" dirty="0" err="1"/>
                <a:t>Predict</a:t>
              </a:r>
              <a:endParaRPr lang="sv-SE" sz="1200" b="1" dirty="0"/>
            </a:p>
          </p:txBody>
        </p:sp>
        <p:sp>
          <p:nvSpPr>
            <p:cNvPr id="38" name="Rectangle: Single Corner Snipped 37">
              <a:extLst>
                <a:ext uri="{FF2B5EF4-FFF2-40B4-BE49-F238E27FC236}">
                  <a16:creationId xmlns:a16="http://schemas.microsoft.com/office/drawing/2014/main" id="{E8677BD9-C841-297E-C03D-6FE5E08713D4}"/>
                </a:ext>
              </a:extLst>
            </p:cNvPr>
            <p:cNvSpPr/>
            <p:nvPr/>
          </p:nvSpPr>
          <p:spPr>
            <a:xfrm rot="10800000">
              <a:off x="7315200" y="3531575"/>
              <a:ext cx="760006" cy="354622"/>
            </a:xfrm>
            <a:prstGeom prst="snip1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schemeClr val="tx1"/>
                </a:solidFill>
              </a:endParaRPr>
            </a:p>
          </p:txBody>
        </p:sp>
        <p:pic>
          <p:nvPicPr>
            <p:cNvPr id="39" name="Graphic 38" descr="Document with solid fill">
              <a:extLst>
                <a:ext uri="{FF2B5EF4-FFF2-40B4-BE49-F238E27FC236}">
                  <a16:creationId xmlns:a16="http://schemas.microsoft.com/office/drawing/2014/main" id="{FBEFD975-2D19-FCC8-6D51-9B52ED2C1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24845" y="4631183"/>
              <a:ext cx="704698" cy="704698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1E394C4-133F-488E-B83F-E3CAEFB3D1D3}"/>
                </a:ext>
              </a:extLst>
            </p:cNvPr>
            <p:cNvSpPr txBox="1"/>
            <p:nvPr/>
          </p:nvSpPr>
          <p:spPr>
            <a:xfrm>
              <a:off x="5177572" y="5410415"/>
              <a:ext cx="813529" cy="19145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r>
                <a:rPr lang="sv-SE" sz="1200" b="1" dirty="0"/>
                <a:t>New Data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9C3796-58B7-3570-4E26-7A954766813B}"/>
                </a:ext>
              </a:extLst>
            </p:cNvPr>
            <p:cNvSpPr txBox="1"/>
            <p:nvPr/>
          </p:nvSpPr>
          <p:spPr>
            <a:xfrm>
              <a:off x="7497518" y="3600411"/>
              <a:ext cx="395368" cy="183716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r>
                <a:rPr lang="sv-SE" sz="1100" b="1" dirty="0" err="1"/>
                <a:t>Label</a:t>
              </a:r>
              <a:endParaRPr lang="sv-SE" sz="1100" b="1" dirty="0"/>
            </a:p>
          </p:txBody>
        </p:sp>
        <p:sp>
          <p:nvSpPr>
            <p:cNvPr id="43" name="Rectangle: Single Corner Snipped 42">
              <a:extLst>
                <a:ext uri="{FF2B5EF4-FFF2-40B4-BE49-F238E27FC236}">
                  <a16:creationId xmlns:a16="http://schemas.microsoft.com/office/drawing/2014/main" id="{071DA6F8-054B-E1C1-E7F4-A159E477EF33}"/>
                </a:ext>
              </a:extLst>
            </p:cNvPr>
            <p:cNvSpPr/>
            <p:nvPr/>
          </p:nvSpPr>
          <p:spPr>
            <a:xfrm rot="10800000">
              <a:off x="10181088" y="4966703"/>
              <a:ext cx="760006" cy="354622"/>
            </a:xfrm>
            <a:prstGeom prst="snip1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D77BB2F-C2C0-7CC0-40F3-DB96EB767EA8}"/>
                </a:ext>
              </a:extLst>
            </p:cNvPr>
            <p:cNvSpPr txBox="1"/>
            <p:nvPr/>
          </p:nvSpPr>
          <p:spPr>
            <a:xfrm>
              <a:off x="10363407" y="5029037"/>
              <a:ext cx="395368" cy="183716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r>
                <a:rPr lang="sv-SE" sz="1100" b="1" dirty="0" err="1"/>
                <a:t>Label</a:t>
              </a:r>
              <a:endParaRPr lang="sv-SE" sz="1100" b="1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C73656C-B9CC-191B-9056-CF0A7F3AC7F2}"/>
                </a:ext>
              </a:extLst>
            </p:cNvPr>
            <p:cNvSpPr/>
            <p:nvPr/>
          </p:nvSpPr>
          <p:spPr>
            <a:xfrm>
              <a:off x="7479345" y="3528583"/>
              <a:ext cx="66682" cy="66682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 err="1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0ABA7AE-FB03-DA77-B403-046D39B85DE3}"/>
                </a:ext>
              </a:extLst>
            </p:cNvPr>
            <p:cNvSpPr/>
            <p:nvPr/>
          </p:nvSpPr>
          <p:spPr>
            <a:xfrm>
              <a:off x="7134225" y="3333750"/>
              <a:ext cx="361950" cy="197825"/>
            </a:xfrm>
            <a:custGeom>
              <a:avLst/>
              <a:gdLst>
                <a:gd name="connsiteX0" fmla="*/ 0 w 361950"/>
                <a:gd name="connsiteY0" fmla="*/ 0 h 197825"/>
                <a:gd name="connsiteX1" fmla="*/ 11310 w 361950"/>
                <a:gd name="connsiteY1" fmla="*/ 58782 h 197825"/>
                <a:gd name="connsiteX2" fmla="*/ 45243 w 361950"/>
                <a:gd name="connsiteY2" fmla="*/ 101532 h 197825"/>
                <a:gd name="connsiteX3" fmla="*/ 79176 w 361950"/>
                <a:gd name="connsiteY3" fmla="*/ 122908 h 197825"/>
                <a:gd name="connsiteX4" fmla="*/ 169664 w 361950"/>
                <a:gd name="connsiteY4" fmla="*/ 144283 h 197825"/>
                <a:gd name="connsiteX5" fmla="*/ 260151 w 361950"/>
                <a:gd name="connsiteY5" fmla="*/ 160314 h 197825"/>
                <a:gd name="connsiteX6" fmla="*/ 305395 w 361950"/>
                <a:gd name="connsiteY6" fmla="*/ 176346 h 197825"/>
                <a:gd name="connsiteX7" fmla="*/ 361950 w 361950"/>
                <a:gd name="connsiteY7" fmla="*/ 197721 h 19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950" h="197825" fill="none" extrusionOk="0">
                  <a:moveTo>
                    <a:pt x="0" y="0"/>
                  </a:moveTo>
                  <a:cubicBezTo>
                    <a:pt x="4478" y="19581"/>
                    <a:pt x="8404" y="40502"/>
                    <a:pt x="11310" y="58782"/>
                  </a:cubicBezTo>
                  <a:cubicBezTo>
                    <a:pt x="15768" y="73514"/>
                    <a:pt x="28586" y="88791"/>
                    <a:pt x="45243" y="101532"/>
                  </a:cubicBezTo>
                  <a:cubicBezTo>
                    <a:pt x="55657" y="109304"/>
                    <a:pt x="64555" y="117441"/>
                    <a:pt x="79176" y="122908"/>
                  </a:cubicBezTo>
                  <a:cubicBezTo>
                    <a:pt x="101088" y="137579"/>
                    <a:pt x="138852" y="140521"/>
                    <a:pt x="169664" y="144283"/>
                  </a:cubicBezTo>
                  <a:cubicBezTo>
                    <a:pt x="242421" y="171014"/>
                    <a:pt x="174357" y="155113"/>
                    <a:pt x="260151" y="160314"/>
                  </a:cubicBezTo>
                  <a:cubicBezTo>
                    <a:pt x="275353" y="164256"/>
                    <a:pt x="293253" y="170706"/>
                    <a:pt x="305395" y="176346"/>
                  </a:cubicBezTo>
                  <a:cubicBezTo>
                    <a:pt x="350600" y="203301"/>
                    <a:pt x="320825" y="197505"/>
                    <a:pt x="361950" y="197721"/>
                  </a:cubicBezTo>
                </a:path>
                <a:path w="361950" h="197825" stroke="0" extrusionOk="0">
                  <a:moveTo>
                    <a:pt x="0" y="0"/>
                  </a:moveTo>
                  <a:cubicBezTo>
                    <a:pt x="329" y="20285"/>
                    <a:pt x="3294" y="40278"/>
                    <a:pt x="11310" y="58782"/>
                  </a:cubicBezTo>
                  <a:cubicBezTo>
                    <a:pt x="15474" y="75305"/>
                    <a:pt x="30495" y="88203"/>
                    <a:pt x="45243" y="101532"/>
                  </a:cubicBezTo>
                  <a:cubicBezTo>
                    <a:pt x="55684" y="110607"/>
                    <a:pt x="66051" y="118366"/>
                    <a:pt x="79176" y="122908"/>
                  </a:cubicBezTo>
                  <a:cubicBezTo>
                    <a:pt x="108022" y="131995"/>
                    <a:pt x="142608" y="143125"/>
                    <a:pt x="169664" y="144283"/>
                  </a:cubicBezTo>
                  <a:cubicBezTo>
                    <a:pt x="255442" y="162234"/>
                    <a:pt x="191280" y="152592"/>
                    <a:pt x="260151" y="160314"/>
                  </a:cubicBezTo>
                  <a:cubicBezTo>
                    <a:pt x="275813" y="164057"/>
                    <a:pt x="292563" y="170458"/>
                    <a:pt x="305395" y="176346"/>
                  </a:cubicBezTo>
                  <a:cubicBezTo>
                    <a:pt x="358427" y="205087"/>
                    <a:pt x="319779" y="196755"/>
                    <a:pt x="361950" y="197721"/>
                  </a:cubicBezTo>
                </a:path>
              </a:pathLst>
            </a:custGeom>
            <a:ln w="19050">
              <a:solidFill>
                <a:schemeClr val="accent6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988208611">
                    <a:custGeom>
                      <a:avLst/>
                      <a:gdLst>
                        <a:gd name="connsiteX0" fmla="*/ 0 w 304800"/>
                        <a:gd name="connsiteY0" fmla="*/ 0 h 352609"/>
                        <a:gd name="connsiteX1" fmla="*/ 9525 w 304800"/>
                        <a:gd name="connsiteY1" fmla="*/ 104775 h 352609"/>
                        <a:gd name="connsiteX2" fmla="*/ 38100 w 304800"/>
                        <a:gd name="connsiteY2" fmla="*/ 180975 h 352609"/>
                        <a:gd name="connsiteX3" fmla="*/ 66675 w 304800"/>
                        <a:gd name="connsiteY3" fmla="*/ 219075 h 352609"/>
                        <a:gd name="connsiteX4" fmla="*/ 142875 w 304800"/>
                        <a:gd name="connsiteY4" fmla="*/ 257175 h 352609"/>
                        <a:gd name="connsiteX5" fmla="*/ 219075 w 304800"/>
                        <a:gd name="connsiteY5" fmla="*/ 285750 h 352609"/>
                        <a:gd name="connsiteX6" fmla="*/ 257175 w 304800"/>
                        <a:gd name="connsiteY6" fmla="*/ 314325 h 352609"/>
                        <a:gd name="connsiteX7" fmla="*/ 304800 w 304800"/>
                        <a:gd name="connsiteY7" fmla="*/ 352425 h 3526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304800" h="352609">
                          <a:moveTo>
                            <a:pt x="0" y="0"/>
                          </a:moveTo>
                          <a:cubicBezTo>
                            <a:pt x="3175" y="34925"/>
                            <a:pt x="4890" y="70014"/>
                            <a:pt x="9525" y="104775"/>
                          </a:cubicBezTo>
                          <a:cubicBezTo>
                            <a:pt x="13244" y="132666"/>
                            <a:pt x="23229" y="157181"/>
                            <a:pt x="38100" y="180975"/>
                          </a:cubicBezTo>
                          <a:cubicBezTo>
                            <a:pt x="46514" y="194437"/>
                            <a:pt x="55450" y="207850"/>
                            <a:pt x="66675" y="219075"/>
                          </a:cubicBezTo>
                          <a:cubicBezTo>
                            <a:pt x="86916" y="239316"/>
                            <a:pt x="118317" y="246260"/>
                            <a:pt x="142875" y="257175"/>
                          </a:cubicBezTo>
                          <a:cubicBezTo>
                            <a:pt x="206915" y="285637"/>
                            <a:pt x="154079" y="269501"/>
                            <a:pt x="219075" y="285750"/>
                          </a:cubicBezTo>
                          <a:cubicBezTo>
                            <a:pt x="231775" y="295275"/>
                            <a:pt x="245950" y="303100"/>
                            <a:pt x="257175" y="314325"/>
                          </a:cubicBezTo>
                          <a:cubicBezTo>
                            <a:pt x="300355" y="357505"/>
                            <a:pt x="265557" y="352425"/>
                            <a:pt x="304800" y="352425"/>
                          </a:cubicBez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B423C60-9116-74F0-99BE-708FAF95DE72}"/>
              </a:ext>
            </a:extLst>
          </p:cNvPr>
          <p:cNvSpPr txBox="1"/>
          <p:nvPr/>
        </p:nvSpPr>
        <p:spPr>
          <a:xfrm>
            <a:off x="951345" y="1422400"/>
            <a:ext cx="4318591" cy="72869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endParaRPr lang="sv-SE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3CFCF8-F11A-EDC2-7B75-C64817242CA8}"/>
              </a:ext>
            </a:extLst>
          </p:cNvPr>
          <p:cNvSpPr txBox="1"/>
          <p:nvPr/>
        </p:nvSpPr>
        <p:spPr>
          <a:xfrm>
            <a:off x="550862" y="1390973"/>
            <a:ext cx="5388465" cy="115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Based on the nature of Data: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Supervised learning: </a:t>
            </a:r>
            <a:r>
              <a:rPr lang="sv-SE" sz="1600" dirty="0" err="1">
                <a:latin typeface="+mj-lt"/>
              </a:rPr>
              <a:t>labeled</a:t>
            </a:r>
            <a:r>
              <a:rPr lang="sv-SE" sz="1600" dirty="0">
                <a:latin typeface="+mj-lt"/>
              </a:rPr>
              <a:t> data</a:t>
            </a:r>
            <a:endParaRPr lang="en-US" sz="16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Unsupervised learning: </a:t>
            </a:r>
            <a:r>
              <a:rPr lang="sv-SE" sz="1600" dirty="0" err="1">
                <a:latin typeface="+mj-lt"/>
              </a:rPr>
              <a:t>unlabeled</a:t>
            </a:r>
            <a:r>
              <a:rPr lang="sv-SE" sz="1600" dirty="0">
                <a:latin typeface="+mj-lt"/>
              </a:rPr>
              <a:t> data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344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B606B-FD80-6480-FADB-572F1427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 err="1"/>
              <a:t>Model</a:t>
            </a:r>
            <a:r>
              <a:rPr lang="sv-SE" b="1" dirty="0"/>
              <a:t> </a:t>
            </a:r>
            <a:r>
              <a:rPr lang="sv-SE" b="1" dirty="0" err="1"/>
              <a:t>Development</a:t>
            </a:r>
            <a:br>
              <a:rPr lang="sv-SE" dirty="0"/>
            </a:b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1AA1B-8ECD-9EB6-36E9-F1B8722AA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Models Evaluated:</a:t>
            </a:r>
          </a:p>
          <a:p>
            <a:pPr marL="457200" lvl="1" indent="0">
              <a:buNone/>
            </a:pPr>
            <a:r>
              <a:rPr lang="en-US" dirty="0"/>
              <a:t>- Logistic Regression</a:t>
            </a:r>
          </a:p>
          <a:p>
            <a:pPr lvl="1">
              <a:buFontTx/>
              <a:buChar char="-"/>
            </a:pPr>
            <a:r>
              <a:rPr lang="en-US" dirty="0"/>
              <a:t>Random Forest </a:t>
            </a:r>
          </a:p>
          <a:p>
            <a:pPr marL="457200" lvl="1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Training Approach:</a:t>
            </a:r>
          </a:p>
          <a:p>
            <a:pPr marL="0" indent="0">
              <a:buNone/>
            </a:pPr>
            <a:r>
              <a:rPr lang="en-US" dirty="0"/>
              <a:t>        - 80/20 train-test split</a:t>
            </a:r>
          </a:p>
          <a:p>
            <a:pPr marL="0" indent="0">
              <a:buNone/>
            </a:pPr>
            <a:r>
              <a:rPr lang="en-US" dirty="0"/>
              <a:t>        - Stratified sampling (preserve class balance)</a:t>
            </a:r>
          </a:p>
          <a:p>
            <a:pPr marL="0" indent="0">
              <a:buNone/>
            </a:pPr>
            <a:r>
              <a:rPr lang="en-US" dirty="0"/>
              <a:t>        - Class weighting to handle imbalance</a:t>
            </a:r>
          </a:p>
          <a:p>
            <a:pPr marL="0" indent="0">
              <a:buNone/>
            </a:pPr>
            <a:r>
              <a:rPr lang="en-US" dirty="0"/>
              <a:t>        - Cross-validation for robustness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Feature Importance Analysis:</a:t>
            </a:r>
          </a:p>
          <a:p>
            <a:pPr lvl="1"/>
            <a:r>
              <a:rPr lang="en-US" dirty="0"/>
              <a:t>Random Forest provides explainability</a:t>
            </a:r>
          </a:p>
          <a:p>
            <a:pPr lvl="1"/>
            <a:r>
              <a:rPr lang="en-US" dirty="0"/>
              <a:t>Top features align with business intuition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02374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D669D-D09B-A978-F50C-386C134ED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(Logistic Regression)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63902-0F9C-ED08-1C0D-D709DAB32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78000"/>
            <a:ext cx="4192990" cy="3970867"/>
          </a:xfrm>
        </p:spPr>
        <p:txBody>
          <a:bodyPr>
            <a:normAutofit fontScale="85000" lnSpcReduction="20000"/>
          </a:bodyPr>
          <a:lstStyle/>
          <a:p>
            <a:r>
              <a:rPr lang="sv-SE" dirty="0" err="1"/>
              <a:t>Recall</a:t>
            </a:r>
            <a:r>
              <a:rPr lang="sv-SE" dirty="0"/>
              <a:t> (SAR)= 89%, </a:t>
            </a:r>
            <a:r>
              <a:rPr lang="en-US" dirty="0"/>
              <a:t>Catches nearly all true SARs (only 12 missed (FN)).</a:t>
            </a:r>
          </a:p>
          <a:p>
            <a:r>
              <a:rPr lang="sv-SE" dirty="0"/>
              <a:t>Precision (SAR)= 18%, </a:t>
            </a:r>
            <a:r>
              <a:rPr lang="en-US" dirty="0"/>
              <a:t>1 in 5 alerts is a true SAR. High false positives (419).</a:t>
            </a:r>
          </a:p>
          <a:p>
            <a:r>
              <a:rPr lang="sv-SE" dirty="0"/>
              <a:t>ROC-AUC= 0.90, Overall strong, </a:t>
            </a:r>
            <a:r>
              <a:rPr lang="sv-SE" dirty="0" err="1"/>
              <a:t>but</a:t>
            </a:r>
            <a:r>
              <a:rPr lang="sv-SE" dirty="0"/>
              <a:t> dominantes by the </a:t>
            </a:r>
            <a:r>
              <a:rPr lang="sv-SE" dirty="0" err="1"/>
              <a:t>majority</a:t>
            </a:r>
            <a:r>
              <a:rPr lang="sv-SE" dirty="0"/>
              <a:t> </a:t>
            </a:r>
            <a:r>
              <a:rPr lang="sv-SE" dirty="0" err="1"/>
              <a:t>class</a:t>
            </a:r>
            <a:r>
              <a:rPr lang="en-US" dirty="0"/>
              <a:t>.</a:t>
            </a:r>
          </a:p>
          <a:p>
            <a:r>
              <a:rPr lang="en-US" dirty="0"/>
              <a:t>The model achieves </a:t>
            </a:r>
            <a:r>
              <a:rPr lang="sv-SE" dirty="0"/>
              <a:t>AUC-PR = </a:t>
            </a:r>
            <a:r>
              <a:rPr lang="en-US" dirty="0"/>
              <a:t>0.2076 (~20.8%), shows approximately 5x better than random, but still low.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234C34-6FC8-B61D-03C7-2859BD350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561" y="1670137"/>
            <a:ext cx="2590800" cy="236800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723122D-928E-AF80-276B-1041CED00384}"/>
              </a:ext>
            </a:extLst>
          </p:cNvPr>
          <p:cNvSpPr txBox="1"/>
          <p:nvPr/>
        </p:nvSpPr>
        <p:spPr>
          <a:xfrm>
            <a:off x="5203305" y="1938866"/>
            <a:ext cx="2853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Most Important Features (by coefficient magnitude)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FB3FE7C-9938-896B-DCB4-1961FAC28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88242"/>
              </p:ext>
            </p:extLst>
          </p:nvPr>
        </p:nvGraphicFramePr>
        <p:xfrm>
          <a:off x="5279894" y="2567115"/>
          <a:ext cx="2733381" cy="3657600"/>
        </p:xfrm>
        <a:graphic>
          <a:graphicData uri="http://schemas.openxmlformats.org/drawingml/2006/table">
            <a:tbl>
              <a:tblPr/>
              <a:tblGrid>
                <a:gridCol w="1983041">
                  <a:extLst>
                    <a:ext uri="{9D8B030D-6E8A-4147-A177-3AD203B41FA5}">
                      <a16:colId xmlns:a16="http://schemas.microsoft.com/office/drawing/2014/main" val="52174236"/>
                    </a:ext>
                  </a:extLst>
                </a:gridCol>
                <a:gridCol w="750340">
                  <a:extLst>
                    <a:ext uri="{9D8B030D-6E8A-4147-A177-3AD203B41FA5}">
                      <a16:colId xmlns:a16="http://schemas.microsoft.com/office/drawing/2014/main" val="219719953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Feature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Coefficient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01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turnover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1.593331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4239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incoming_amount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1.410773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4935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txn_range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-1.404151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4097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txn_range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-1.404151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0900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outgoing_amount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-1.355821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4328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txn_min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-0.827766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308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internal_txn_ratio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-0.212711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1563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Vulnerable_Area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-0.212026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9907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internal_txn_count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0.160228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2056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txn_mean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-0.105929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0984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Intention_International_Payments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-0.093247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6786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incoming_count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0.071964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369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txn_count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-0.071579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1541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outgoing_count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-0.057656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27051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0.057259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0622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High_Risk_Country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0.055352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2356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Intention_Cash_Deposits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-0.050983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6763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-0.021861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9757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flow_ratio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-0.016814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184405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24782E0C-CB63-9E06-65D7-5645733ED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561" y="4080191"/>
            <a:ext cx="3221069" cy="25259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48A127-4AAD-D89C-82D9-2D30B46F64EF}"/>
              </a:ext>
            </a:extLst>
          </p:cNvPr>
          <p:cNvSpPr txBox="1"/>
          <p:nvPr/>
        </p:nvSpPr>
        <p:spPr>
          <a:xfrm>
            <a:off x="618067" y="5884333"/>
            <a:ext cx="4144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Feature “turnover” is the most important feature for SAR prediction and has a positive relationship with SAR value 1.</a:t>
            </a:r>
            <a:endParaRPr lang="sv-SE" sz="1200" dirty="0"/>
          </a:p>
        </p:txBody>
      </p:sp>
    </p:spTree>
    <p:extLst>
      <p:ext uri="{BB962C8B-B14F-4D97-AF65-F5344CB8AC3E}">
        <p14:creationId xmlns:p14="http://schemas.microsoft.com/office/powerpoint/2010/main" val="1079578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E3F81-DEF5-71F0-ECA4-32F0E0304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77835-65CF-3E94-34CC-D3A5D2EAA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(Random Forest)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BDA42-B2A2-7E6D-1F9A-BFE95B070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78000"/>
            <a:ext cx="4192990" cy="3970867"/>
          </a:xfrm>
        </p:spPr>
        <p:txBody>
          <a:bodyPr>
            <a:normAutofit fontScale="70000" lnSpcReduction="20000"/>
          </a:bodyPr>
          <a:lstStyle/>
          <a:p>
            <a:r>
              <a:rPr lang="sv-SE" dirty="0" err="1"/>
              <a:t>Recall</a:t>
            </a:r>
            <a:r>
              <a:rPr lang="sv-SE" dirty="0"/>
              <a:t> (SAR)= 73%, </a:t>
            </a:r>
            <a:r>
              <a:rPr lang="en-US" dirty="0"/>
              <a:t>Catches nearly all true SARs (only 28 missed (FN))</a:t>
            </a:r>
          </a:p>
          <a:p>
            <a:r>
              <a:rPr lang="sv-SE" dirty="0"/>
              <a:t>Precision (SAR)= 19%.</a:t>
            </a:r>
            <a:r>
              <a:rPr lang="en-US" dirty="0"/>
              <a:t> Low false positives (326).</a:t>
            </a:r>
          </a:p>
          <a:p>
            <a:r>
              <a:rPr lang="sv-SE" dirty="0"/>
              <a:t>ROC-AUC= 0.91, Overall strong, </a:t>
            </a:r>
            <a:r>
              <a:rPr lang="sv-SE" dirty="0" err="1"/>
              <a:t>but</a:t>
            </a:r>
            <a:r>
              <a:rPr lang="sv-SE" dirty="0"/>
              <a:t> dominantes by the </a:t>
            </a:r>
            <a:r>
              <a:rPr lang="sv-SE" dirty="0" err="1"/>
              <a:t>majority</a:t>
            </a:r>
            <a:r>
              <a:rPr lang="sv-SE" dirty="0"/>
              <a:t> </a:t>
            </a:r>
            <a:r>
              <a:rPr lang="sv-SE" dirty="0" err="1"/>
              <a:t>class</a:t>
            </a:r>
            <a:r>
              <a:rPr lang="en-US" dirty="0"/>
              <a:t>.</a:t>
            </a:r>
          </a:p>
          <a:p>
            <a:r>
              <a:rPr lang="en-US" dirty="0"/>
              <a:t>The model achieves </a:t>
            </a:r>
            <a:r>
              <a:rPr lang="sv-SE" dirty="0"/>
              <a:t>AUC-PR = 0.3110</a:t>
            </a:r>
            <a:r>
              <a:rPr lang="en-US" dirty="0"/>
              <a:t> (~31.1%), shows approximately 5x better than random, but still low.</a:t>
            </a:r>
          </a:p>
          <a:p>
            <a:r>
              <a:rPr lang="en-US" dirty="0" err="1"/>
              <a:t>outgoing_amount</a:t>
            </a:r>
            <a:r>
              <a:rPr lang="en-US" dirty="0"/>
              <a:t> dominates (33% importance) - stronger signal than turnover alone.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88824A-22EA-E706-C572-A29374B470E8}"/>
              </a:ext>
            </a:extLst>
          </p:cNvPr>
          <p:cNvSpPr txBox="1"/>
          <p:nvPr/>
        </p:nvSpPr>
        <p:spPr>
          <a:xfrm>
            <a:off x="5272782" y="1904534"/>
            <a:ext cx="2853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Most Important Features (by coefficient magnitude)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05B3B7-1B10-8204-AA2F-970017272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6618" y="1690688"/>
            <a:ext cx="2757560" cy="2526632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205F69F-9511-BEC4-BF06-70EC96DBF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9171"/>
              </p:ext>
            </p:extLst>
          </p:nvPr>
        </p:nvGraphicFramePr>
        <p:xfrm>
          <a:off x="5344708" y="2511160"/>
          <a:ext cx="2781300" cy="3657600"/>
        </p:xfrm>
        <a:graphic>
          <a:graphicData uri="http://schemas.openxmlformats.org/drawingml/2006/table">
            <a:tbl>
              <a:tblPr/>
              <a:tblGrid>
                <a:gridCol w="1917700">
                  <a:extLst>
                    <a:ext uri="{9D8B030D-6E8A-4147-A177-3AD203B41FA5}">
                      <a16:colId xmlns:a16="http://schemas.microsoft.com/office/drawing/2014/main" val="281102343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61173697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Feature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Importance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9732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outgoing_amount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0.331568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601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turnover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0.169461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853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txn_min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0.107961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0439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txn_mean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0.072638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1320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incoming_amount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0.067226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7524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flow_ratio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0.053149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3468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txn_range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0.050416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4233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txn_range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0.048180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9501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0.024990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9247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incoming_count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0.018474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3135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txn_count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0.018223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351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outgoing_count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0.011932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5682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internal_txn_ratio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0.011085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0445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internal_txn_count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0.005059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45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Sex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0.002170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0251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Vulnerable_Area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0.002081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4956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Intention_Cash_Deposits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0.002054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3227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High_Risk_Country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0.001732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9137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Intention_International_Payments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0.001600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961058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70826D7F-1FED-7BE3-C961-2A1390C8E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933" y="4217320"/>
            <a:ext cx="3173446" cy="247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544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FF6E1-8903-1174-B52D-920F8AB23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Comparison</a:t>
            </a:r>
            <a:r>
              <a:rPr lang="sv-SE" dirty="0"/>
              <a:t> and </a:t>
            </a:r>
            <a:r>
              <a:rPr lang="sv-SE" dirty="0" err="1"/>
              <a:t>Evaluation</a:t>
            </a:r>
            <a:endParaRPr lang="sv-S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D6D246-87F0-8D30-7024-F9B897E4A7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5950871"/>
              </p:ext>
            </p:extLst>
          </p:nvPr>
        </p:nvGraphicFramePr>
        <p:xfrm>
          <a:off x="922867" y="1763783"/>
          <a:ext cx="10515602" cy="666336"/>
        </p:xfrm>
        <a:graphic>
          <a:graphicData uri="http://schemas.openxmlformats.org/drawingml/2006/table">
            <a:tbl>
              <a:tblPr/>
              <a:tblGrid>
                <a:gridCol w="1168400">
                  <a:extLst>
                    <a:ext uri="{9D8B030D-6E8A-4147-A177-3AD203B41FA5}">
                      <a16:colId xmlns:a16="http://schemas.microsoft.com/office/drawing/2014/main" val="2417344785"/>
                    </a:ext>
                  </a:extLst>
                </a:gridCol>
                <a:gridCol w="670962">
                  <a:extLst>
                    <a:ext uri="{9D8B030D-6E8A-4147-A177-3AD203B41FA5}">
                      <a16:colId xmlns:a16="http://schemas.microsoft.com/office/drawing/2014/main" val="1215748827"/>
                    </a:ext>
                  </a:extLst>
                </a:gridCol>
                <a:gridCol w="532143">
                  <a:extLst>
                    <a:ext uri="{9D8B030D-6E8A-4147-A177-3AD203B41FA5}">
                      <a16:colId xmlns:a16="http://schemas.microsoft.com/office/drawing/2014/main" val="3429706873"/>
                    </a:ext>
                  </a:extLst>
                </a:gridCol>
                <a:gridCol w="647826">
                  <a:extLst>
                    <a:ext uri="{9D8B030D-6E8A-4147-A177-3AD203B41FA5}">
                      <a16:colId xmlns:a16="http://schemas.microsoft.com/office/drawing/2014/main" val="1260650870"/>
                    </a:ext>
                  </a:extLst>
                </a:gridCol>
                <a:gridCol w="670962">
                  <a:extLst>
                    <a:ext uri="{9D8B030D-6E8A-4147-A177-3AD203B41FA5}">
                      <a16:colId xmlns:a16="http://schemas.microsoft.com/office/drawing/2014/main" val="2480774344"/>
                    </a:ext>
                  </a:extLst>
                </a:gridCol>
                <a:gridCol w="578416">
                  <a:extLst>
                    <a:ext uri="{9D8B030D-6E8A-4147-A177-3AD203B41FA5}">
                      <a16:colId xmlns:a16="http://schemas.microsoft.com/office/drawing/2014/main" val="560983688"/>
                    </a:ext>
                  </a:extLst>
                </a:gridCol>
                <a:gridCol w="497438">
                  <a:extLst>
                    <a:ext uri="{9D8B030D-6E8A-4147-A177-3AD203B41FA5}">
                      <a16:colId xmlns:a16="http://schemas.microsoft.com/office/drawing/2014/main" val="2147751484"/>
                    </a:ext>
                  </a:extLst>
                </a:gridCol>
                <a:gridCol w="856055">
                  <a:extLst>
                    <a:ext uri="{9D8B030D-6E8A-4147-A177-3AD203B41FA5}">
                      <a16:colId xmlns:a16="http://schemas.microsoft.com/office/drawing/2014/main" val="3600984952"/>
                    </a:ext>
                  </a:extLst>
                </a:gridCol>
                <a:gridCol w="439596">
                  <a:extLst>
                    <a:ext uri="{9D8B030D-6E8A-4147-A177-3AD203B41FA5}">
                      <a16:colId xmlns:a16="http://schemas.microsoft.com/office/drawing/2014/main" val="2844546070"/>
                    </a:ext>
                  </a:extLst>
                </a:gridCol>
                <a:gridCol w="647826">
                  <a:extLst>
                    <a:ext uri="{9D8B030D-6E8A-4147-A177-3AD203B41FA5}">
                      <a16:colId xmlns:a16="http://schemas.microsoft.com/office/drawing/2014/main" val="3981709010"/>
                    </a:ext>
                  </a:extLst>
                </a:gridCol>
                <a:gridCol w="566848">
                  <a:extLst>
                    <a:ext uri="{9D8B030D-6E8A-4147-A177-3AD203B41FA5}">
                      <a16:colId xmlns:a16="http://schemas.microsoft.com/office/drawing/2014/main" val="924821606"/>
                    </a:ext>
                  </a:extLst>
                </a:gridCol>
                <a:gridCol w="717236">
                  <a:extLst>
                    <a:ext uri="{9D8B030D-6E8A-4147-A177-3AD203B41FA5}">
                      <a16:colId xmlns:a16="http://schemas.microsoft.com/office/drawing/2014/main" val="4026667992"/>
                    </a:ext>
                  </a:extLst>
                </a:gridCol>
                <a:gridCol w="566848">
                  <a:extLst>
                    <a:ext uri="{9D8B030D-6E8A-4147-A177-3AD203B41FA5}">
                      <a16:colId xmlns:a16="http://schemas.microsoft.com/office/drawing/2014/main" val="728975936"/>
                    </a:ext>
                  </a:extLst>
                </a:gridCol>
                <a:gridCol w="694099">
                  <a:extLst>
                    <a:ext uri="{9D8B030D-6E8A-4147-A177-3AD203B41FA5}">
                      <a16:colId xmlns:a16="http://schemas.microsoft.com/office/drawing/2014/main" val="622587655"/>
                    </a:ext>
                  </a:extLst>
                </a:gridCol>
                <a:gridCol w="509006">
                  <a:extLst>
                    <a:ext uri="{9D8B030D-6E8A-4147-A177-3AD203B41FA5}">
                      <a16:colId xmlns:a16="http://schemas.microsoft.com/office/drawing/2014/main" val="1794547556"/>
                    </a:ext>
                  </a:extLst>
                </a:gridCol>
                <a:gridCol w="751941">
                  <a:extLst>
                    <a:ext uri="{9D8B030D-6E8A-4147-A177-3AD203B41FA5}">
                      <a16:colId xmlns:a16="http://schemas.microsoft.com/office/drawing/2014/main" val="1700845285"/>
                    </a:ext>
                  </a:extLst>
                </a:gridCol>
              </a:tblGrid>
              <a:tr h="1665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v-SE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Model</a:t>
                      </a:r>
                    </a:p>
                  </a:txBody>
                  <a:tcPr marL="6941" marR="6941" marT="6941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Precision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Recall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F1-Score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ROC-AUC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AUC-PR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FALSE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Positive Rate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TRUE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Positives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FALSE2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Positives3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FALSE4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Negatives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TRUE5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Negatives6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605534"/>
                  </a:ext>
                </a:extLst>
              </a:tr>
              <a:tr h="1665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Current Rule (€9k)</a:t>
                      </a:r>
                    </a:p>
                  </a:txBody>
                  <a:tcPr marL="6941" marR="6941" marT="6941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0.078711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1.000000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0.145935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N/A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N/A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sv-S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0.535512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sv-S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sv-S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1229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sv-SE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sv-S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1066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963566"/>
                  </a:ext>
                </a:extLst>
              </a:tr>
              <a:tr h="1665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Logistic Regression</a:t>
                      </a:r>
                    </a:p>
                  </a:txBody>
                  <a:tcPr marL="6941" marR="6941" marT="6941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0.181641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0.885714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0.301459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0.9004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0.2076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sv-S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0.182571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sv-S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sv-S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419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sv-S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sv-S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1876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108048"/>
                  </a:ext>
                </a:extLst>
              </a:tr>
              <a:tr h="1665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Random Forest</a:t>
                      </a:r>
                    </a:p>
                  </a:txBody>
                  <a:tcPr marL="6941" marR="6941" marT="6941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0.191067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0.733333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0.303150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0.9114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0.3110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sv-S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0.142048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sv-S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sv-S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326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sv-S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sv-SE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941" marR="6941" marT="694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sv-S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1969</a:t>
                      </a:r>
                    </a:p>
                  </a:txBody>
                  <a:tcPr marL="6941" marR="6941" marT="6941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5975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E385947-65F0-B9E7-0FF1-353C0D0A8859}"/>
              </a:ext>
            </a:extLst>
          </p:cNvPr>
          <p:cNvSpPr txBox="1"/>
          <p:nvPr/>
        </p:nvSpPr>
        <p:spPr>
          <a:xfrm>
            <a:off x="838200" y="1362331"/>
            <a:ext cx="4318000" cy="383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Performance</a:t>
            </a:r>
            <a:r>
              <a:rPr lang="sv-SE" dirty="0"/>
              <a:t> </a:t>
            </a:r>
            <a:r>
              <a:rPr lang="sv-SE" dirty="0" err="1"/>
              <a:t>Metrics</a:t>
            </a:r>
            <a:r>
              <a:rPr lang="sv-SE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BCAA42-DAE5-D76C-1D4A-0ABEBAF58419}"/>
              </a:ext>
            </a:extLst>
          </p:cNvPr>
          <p:cNvSpPr txBox="1"/>
          <p:nvPr/>
        </p:nvSpPr>
        <p:spPr>
          <a:xfrm>
            <a:off x="838200" y="2832103"/>
            <a:ext cx="51731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dirty="0"/>
              <a:t>• Best Recall (Detection Rate): Current Rule (€9k) (100.00%)</a:t>
            </a:r>
          </a:p>
          <a:p>
            <a:pPr latinLnBrk="1"/>
            <a:r>
              <a:rPr lang="en-US" dirty="0"/>
              <a:t>• Best Precision (Lowest False Positives): Random Forest (19.11%)</a:t>
            </a:r>
          </a:p>
          <a:p>
            <a:pPr latinLnBrk="1"/>
            <a:r>
              <a:rPr lang="en-US" dirty="0"/>
              <a:t>• Best F1-Score (Balance): Random Forest (0.3031)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BEBA0A-8618-8257-F937-1FD4FC898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668" y="2521210"/>
            <a:ext cx="5758503" cy="419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52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AB31-6B71-A251-CF0E-CAF229061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Summary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Findings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A2D6D-F7E4-FF2B-6D83-0605280B3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Current State (€9,000 Turnover Rule):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Simple threshold-based approach</a:t>
            </a:r>
          </a:p>
          <a:p>
            <a:r>
              <a:rPr lang="en-US" dirty="0"/>
              <a:t>Limited detection capability</a:t>
            </a:r>
          </a:p>
          <a:p>
            <a:r>
              <a:rPr lang="en-US" dirty="0"/>
              <a:t>High false negative rate (missing suspicious customers)</a:t>
            </a:r>
          </a:p>
          <a:p>
            <a:r>
              <a:rPr lang="en-US" dirty="0"/>
              <a:t>Not leveraging customer profile or transaction patterns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Key Insights from Analysis: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b="1" dirty="0"/>
              <a:t>Class Imbalance</a:t>
            </a:r>
            <a:r>
              <a:rPr lang="en-US" dirty="0"/>
              <a:t>: SARs represent a small fraction of all customer-months</a:t>
            </a:r>
          </a:p>
          <a:p>
            <a:r>
              <a:rPr lang="en-US" b="1" dirty="0"/>
              <a:t>Multiple Risk Factors</a:t>
            </a:r>
            <a:r>
              <a:rPr lang="en-US" dirty="0"/>
              <a:t>: Turnover alone is insufficient; transaction patterns, frequency, and KYC factors matter</a:t>
            </a:r>
          </a:p>
          <a:p>
            <a:r>
              <a:rPr lang="en-US" b="1" dirty="0"/>
              <a:t>Feature Importance</a:t>
            </a:r>
            <a:r>
              <a:rPr lang="en-US" dirty="0"/>
              <a:t>: Top predictors include:</a:t>
            </a:r>
          </a:p>
          <a:p>
            <a:pPr lvl="1"/>
            <a:r>
              <a:rPr lang="en-US" dirty="0"/>
              <a:t>Transaction turnover</a:t>
            </a:r>
          </a:p>
          <a:p>
            <a:pPr lvl="1"/>
            <a:r>
              <a:rPr lang="en-US" dirty="0"/>
              <a:t>Transaction count and patterns</a:t>
            </a:r>
          </a:p>
          <a:p>
            <a:pPr lvl="1"/>
            <a:r>
              <a:rPr lang="en-US" dirty="0"/>
              <a:t>Incoming/outgoing flow ratios</a:t>
            </a:r>
          </a:p>
          <a:p>
            <a:pPr lvl="1"/>
            <a:r>
              <a:rPr lang="en-US" dirty="0"/>
              <a:t>Customer risk profile (high-risk country, vulnerable area)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Model Performance: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b="1" dirty="0"/>
              <a:t>Random Forest</a:t>
            </a:r>
            <a:r>
              <a:rPr lang="en-US" dirty="0"/>
              <a:t> outperforms both Logistic Regression and the current rule</a:t>
            </a:r>
          </a:p>
          <a:p>
            <a:r>
              <a:rPr lang="en-US" dirty="0"/>
              <a:t>Achieves better recall (finding more SARs) with manageable precision</a:t>
            </a:r>
          </a:p>
          <a:p>
            <a:r>
              <a:rPr lang="en-US" dirty="0"/>
              <a:t>Can be tuned via threshold adjustment to balance detection vs investigation workload</a:t>
            </a:r>
          </a:p>
        </p:txBody>
      </p:sp>
    </p:spTree>
    <p:extLst>
      <p:ext uri="{BB962C8B-B14F-4D97-AF65-F5344CB8AC3E}">
        <p14:creationId xmlns:p14="http://schemas.microsoft.com/office/powerpoint/2010/main" val="9479852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758829351750988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4522a4d-f12f-4888-8028-d80fdde3b7d9}" enabled="1" method="Privileged" siteId="{9a8ff9e3-0e35-4620-a724-e9834dc50b5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1455</Words>
  <Application>Microsoft Office PowerPoint</Application>
  <PresentationFormat>Widescreen</PresentationFormat>
  <Paragraphs>280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Söhne</vt:lpstr>
      <vt:lpstr>Aptos</vt:lpstr>
      <vt:lpstr>Aptos Display</vt:lpstr>
      <vt:lpstr>Aptos Narrow</vt:lpstr>
      <vt:lpstr>Arial</vt:lpstr>
      <vt:lpstr>Calibri</vt:lpstr>
      <vt:lpstr>Calibri Light</vt:lpstr>
      <vt:lpstr>SEB SansSerif Light</vt:lpstr>
      <vt:lpstr>Wingdings</vt:lpstr>
      <vt:lpstr>Office Theme</vt:lpstr>
      <vt:lpstr>1_Office Theme</vt:lpstr>
      <vt:lpstr>Machine Learning Techniques for Anti-Money Laundering</vt:lpstr>
      <vt:lpstr>Business Problem</vt:lpstr>
      <vt:lpstr>Business Problem &amp; Objective</vt:lpstr>
      <vt:lpstr>Data overview</vt:lpstr>
      <vt:lpstr>Data Exploration - Key Insights</vt:lpstr>
      <vt:lpstr>Feature Correlations</vt:lpstr>
      <vt:lpstr>Statistical Significance</vt:lpstr>
      <vt:lpstr>Features Distributions by SAR Status</vt:lpstr>
      <vt:lpstr>Current Rule Performance</vt:lpstr>
      <vt:lpstr>Machine Learning Techniques (Supervised)</vt:lpstr>
      <vt:lpstr>Model Development </vt:lpstr>
      <vt:lpstr>Model Performance (Logistic Regression)</vt:lpstr>
      <vt:lpstr>Model Performance (Random Forest)</vt:lpstr>
      <vt:lpstr>Model Comparison and Evaluation</vt:lpstr>
      <vt:lpstr>Summary of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Pervez, Masud</dc:creator>
  <cp:lastModifiedBy>Pervez, Masud</cp:lastModifiedBy>
  <cp:revision>8</cp:revision>
  <dcterms:created xsi:type="dcterms:W3CDTF">2025-11-08T21:26:10Z</dcterms:created>
  <dcterms:modified xsi:type="dcterms:W3CDTF">2025-11-12T22:31:15Z</dcterms:modified>
</cp:coreProperties>
</file>